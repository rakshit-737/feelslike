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6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1491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FeelsLike turns occupant complaints into safe HVAC actions on a digital twin. Headline: 26.6% less energy with zero occupied comfort violations.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HVAC is 40–50% of commercial electricity; fixed schedules overcool because buildings never hear their occupants. The complaints are the missing sensor.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stages, one typed contract. The LLM only classifies a message into a validated schema; deterministic control math 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Five-zone RC model with real adjacency, solar and occupant gains, finite HVAC capacity, ventilation coupling. Comfort band 23.0–26.5°C occupied.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Handles casual English, Hinglish and retractions. The rules fallback answers in ~0 ms when the LLM is slow or down — the demo never stalls.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Constraints decay with a 45-minute half-life and expire at 2 hours. Conflicts resolve as a severity-weighted compromise — here −0.1°C. Nobody wins forever.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7-day A/B: 26.6% less energy than the static schedule, zero occupied violation minutes, ₹1,729 and 136 kg CO₂ saved.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Reactive saves more energy — 31.7% — but costs 429 violation minutes. FeelsLike rules keeps the comfort promise at 26.6%. That trade-off is the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PPO beats rules by 2.8 kWh/day but averages 2 comfort-violation minutes per day. The acceptance bar — win on energy at equal-or-better comfort — is not cleared, so rules 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 accuracy is 100% for both parsers — the held-out set is the honest number: LLM 60% vs rules 55% on exact triples, across typos, sarcasm, Hinglish and retractions.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live demo: energy race, floor plan, occupant channel — three synchronized views over the same twin. Three minutes from hook to close, and the rules fallback keeps it alive if the LLM stalls.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Measured on ~520 m²: 192 kWh, ₹1,729, 136 kg CO₂ in 7 days. Illustrative annual extrapolation for 10,000 m²: ~192 MWh, ₹18–22 lakh, ~160 tonnes.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know the gaps: simulation-only, held-out NLP accuracy, single-zone complaints, PPO not accepted. The production path: BACnet/Modbus writes, calibration from BMS logs, zone-level privacy, hard clamps.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Buildings have been deaf for a hundred years. We taught one to listen.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92216" y="0"/>
            <a:ext cx="9525" cy="10286931"/>
          </a:xfrm>
          <a:prstGeom prst="rect">
            <a:avLst/>
          </a:prstGeom>
          <a:solidFill>
            <a:srgbClr val="D7D3D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141549" y="0"/>
            <a:ext cx="9525" cy="10286931"/>
          </a:xfrm>
          <a:prstGeom prst="rect">
            <a:avLst/>
          </a:prstGeom>
          <a:solidFill>
            <a:srgbClr val="D7D3D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3190882" y="0"/>
            <a:ext cx="9525" cy="10286931"/>
          </a:xfrm>
          <a:prstGeom prst="rect">
            <a:avLst/>
          </a:prstGeom>
          <a:solidFill>
            <a:srgbClr val="D7D3D3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47714" y="761953"/>
            <a:ext cx="5613310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kern="0" spc="288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REPORT · AUGUST 2026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506845" y="761953"/>
            <a:ext cx="3006706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kern="0" spc="288" dirty="0">
                <a:solidFill>
                  <a:srgbClr val="7D79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GOLDILOCKS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47714" y="1344796"/>
            <a:ext cx="16192501" cy="19021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47714" y="2553278"/>
            <a:ext cx="10687117" cy="14828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8128"/>
              </a:lnSpc>
              <a:buNone/>
            </a:pPr>
            <a:r>
              <a:rPr lang="en-US" sz="11850" b="1" kern="0" spc="-35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FeelsLike</a:t>
            </a:r>
            <a:r>
              <a:rPr lang="en-US" sz="11850" b="1" kern="0" spc="-355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850" dirty="0"/>
          </a:p>
        </p:txBody>
      </p:sp>
      <p:sp>
        <p:nvSpPr>
          <p:cNvPr id="9" name="Text 7"/>
          <p:cNvSpPr/>
          <p:nvPr/>
        </p:nvSpPr>
        <p:spPr>
          <a:xfrm>
            <a:off x="1047714" y="4340905"/>
            <a:ext cx="10687117" cy="8353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27"/>
              </a:lnSpc>
              <a:buNone/>
            </a:pPr>
            <a:r>
              <a:rPr lang="en-US" sz="4050" b="1" kern="0" spc="-4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Buildings that listen.</a:t>
            </a:r>
            <a:endParaRPr lang="en-US" sz="4050" dirty="0"/>
          </a:p>
        </p:txBody>
      </p:sp>
      <p:sp>
        <p:nvSpPr>
          <p:cNvPr id="10" name="Text 8"/>
          <p:cNvSpPr/>
          <p:nvPr/>
        </p:nvSpPr>
        <p:spPr>
          <a:xfrm>
            <a:off x="1047714" y="5404847"/>
            <a:ext cx="7848582" cy="8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309"/>
              </a:lnSpc>
              <a:buNone/>
            </a:pPr>
            <a:r>
              <a:rPr lang="en-US" sz="2250" dirty="0">
                <a:solidFill>
                  <a:srgbClr val="444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digital-twin building optimizer that turns occupant feedback into safe, constraint-aware HVAC actions.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047714" y="6595365"/>
            <a:ext cx="838455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Rakshit 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043875" y="6560499"/>
            <a:ext cx="1326757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65"/>
              </a:lnSpc>
              <a:buNone/>
            </a:pPr>
            <a:r>
              <a:rPr lang="en-US" sz="1800" dirty="0">
                <a:solidFill>
                  <a:srgbClr val="7D79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24BYB1117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49440" y="6595365"/>
            <a:ext cx="901932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Gokul 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489447" y="6600196"/>
            <a:ext cx="1361628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65"/>
              </a:lnSpc>
              <a:buNone/>
            </a:pPr>
            <a:r>
              <a:rPr lang="en-US" sz="1800" dirty="0">
                <a:solidFill>
                  <a:srgbClr val="7D79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24BCE1188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146345" y="6595365"/>
            <a:ext cx="1054549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Dishal LS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238969" y="6600196"/>
            <a:ext cx="1369183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65"/>
              </a:lnSpc>
              <a:buNone/>
            </a:pPr>
            <a:r>
              <a:rPr lang="en-US" sz="1800" dirty="0">
                <a:solidFill>
                  <a:srgbClr val="7D79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24BCE1670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47713" y="7373546"/>
            <a:ext cx="1441693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dirty="0" err="1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Dhanishkanth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385000" y="7326349"/>
            <a:ext cx="1369930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65"/>
              </a:lnSpc>
              <a:buNone/>
            </a:pPr>
            <a:r>
              <a:rPr lang="en-US" sz="1800" dirty="0">
                <a:solidFill>
                  <a:srgbClr val="7D79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24BCE1348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1715735" y="3095137"/>
            <a:ext cx="5524480" cy="4095676"/>
          </a:xfrm>
          <a:prstGeom prst="rect">
            <a:avLst/>
          </a:prstGeom>
          <a:solidFill>
            <a:srgbClr val="F3F2F2"/>
          </a:solidFill>
          <a:ln w="14492">
            <a:solidFill>
              <a:srgbClr val="201E1D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1730226" y="5871982"/>
            <a:ext cx="3297268" cy="14492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15013002" y="3109629"/>
            <a:ext cx="14492" cy="2776845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1939754" y="3319156"/>
            <a:ext cx="3150093" cy="687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227"/>
              </a:lnSpc>
              <a:buNone/>
            </a:pPr>
            <a:r>
              <a:rPr lang="en-US" sz="330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3300" dirty="0"/>
          </a:p>
        </p:txBody>
      </p:sp>
      <p:sp>
        <p:nvSpPr>
          <p:cNvPr id="23" name="Text 21"/>
          <p:cNvSpPr/>
          <p:nvPr/>
        </p:nvSpPr>
        <p:spPr>
          <a:xfrm>
            <a:off x="11939754" y="5308159"/>
            <a:ext cx="3150093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65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Office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5027494" y="4483559"/>
            <a:ext cx="2198153" cy="14492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5237021" y="3319156"/>
            <a:ext cx="1957008" cy="5401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383"/>
              </a:lnSpc>
              <a:buNone/>
            </a:pPr>
            <a:r>
              <a:rPr lang="en-US" sz="255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550" dirty="0"/>
          </a:p>
        </p:txBody>
      </p:sp>
      <p:sp>
        <p:nvSpPr>
          <p:cNvPr id="26" name="Text 24"/>
          <p:cNvSpPr/>
          <p:nvPr/>
        </p:nvSpPr>
        <p:spPr>
          <a:xfrm>
            <a:off x="15237021" y="3919737"/>
            <a:ext cx="1957008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65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Conf. Room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5237021" y="4707579"/>
            <a:ext cx="1957008" cy="5401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383"/>
              </a:lnSpc>
              <a:buNone/>
            </a:pPr>
            <a:r>
              <a:rPr lang="en-US" sz="255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550" dirty="0"/>
          </a:p>
        </p:txBody>
      </p:sp>
      <p:sp>
        <p:nvSpPr>
          <p:cNvPr id="28" name="Text 26"/>
          <p:cNvSpPr/>
          <p:nvPr/>
        </p:nvSpPr>
        <p:spPr>
          <a:xfrm>
            <a:off x="15237021" y="5322651"/>
            <a:ext cx="1957008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65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Cabin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5013002" y="5886473"/>
            <a:ext cx="14492" cy="1289848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11939754" y="6096001"/>
            <a:ext cx="3150093" cy="5401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383"/>
              </a:lnSpc>
              <a:buNone/>
            </a:pPr>
            <a:r>
              <a:rPr lang="en-US" sz="255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550" dirty="0"/>
          </a:p>
        </p:txBody>
      </p:sp>
      <p:sp>
        <p:nvSpPr>
          <p:cNvPr id="31" name="Text 29"/>
          <p:cNvSpPr/>
          <p:nvPr/>
        </p:nvSpPr>
        <p:spPr>
          <a:xfrm>
            <a:off x="11939754" y="6612499"/>
            <a:ext cx="3150093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65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Lobby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5027494" y="5886473"/>
            <a:ext cx="2198153" cy="14492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15237021" y="6110493"/>
            <a:ext cx="1957008" cy="5401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383"/>
              </a:lnSpc>
              <a:buNone/>
            </a:pPr>
            <a:r>
              <a:rPr lang="en-US" sz="255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2550" dirty="0"/>
          </a:p>
        </p:txBody>
      </p:sp>
      <p:sp>
        <p:nvSpPr>
          <p:cNvPr id="34" name="Text 32"/>
          <p:cNvSpPr/>
          <p:nvPr/>
        </p:nvSpPr>
        <p:spPr>
          <a:xfrm>
            <a:off x="15237021" y="6612499"/>
            <a:ext cx="1957008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65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Cafeteria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047714" y="8922133"/>
            <a:ext cx="16192501" cy="19021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1047714" y="9188798"/>
            <a:ext cx="1648068" cy="7171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835"/>
              </a:lnSpc>
              <a:buNone/>
            </a:pPr>
            <a:r>
              <a:rPr lang="en-US" sz="345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−26.6%</a:t>
            </a:r>
            <a:endParaRPr lang="en-US" sz="3450" dirty="0"/>
          </a:p>
        </p:txBody>
      </p:sp>
      <p:sp>
        <p:nvSpPr>
          <p:cNvPr id="37" name="Text 35"/>
          <p:cNvSpPr/>
          <p:nvPr/>
        </p:nvSpPr>
        <p:spPr>
          <a:xfrm>
            <a:off x="2698348" y="9406175"/>
            <a:ext cx="1637938" cy="4219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684"/>
              </a:lnSpc>
              <a:buNone/>
            </a:pPr>
            <a:r>
              <a:rPr lang="en-US" sz="195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HVAC energy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4949336" y="9188798"/>
            <a:ext cx="319919" cy="7171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835"/>
              </a:lnSpc>
              <a:buNone/>
            </a:pPr>
            <a:r>
              <a:rPr lang="en-US" sz="34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450" dirty="0"/>
          </a:p>
        </p:txBody>
      </p:sp>
      <p:sp>
        <p:nvSpPr>
          <p:cNvPr id="39" name="Text 37"/>
          <p:cNvSpPr/>
          <p:nvPr/>
        </p:nvSpPr>
        <p:spPr>
          <a:xfrm>
            <a:off x="5345445" y="9406175"/>
            <a:ext cx="4232835" cy="4219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684"/>
              </a:lnSpc>
              <a:buNone/>
            </a:pPr>
            <a:r>
              <a:rPr lang="en-US" sz="195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occupied comfort-violation minutes</a:t>
            </a:r>
            <a:endParaRPr lang="en-US" sz="1950" dirty="0"/>
          </a:p>
        </p:txBody>
      </p:sp>
      <p:sp>
        <p:nvSpPr>
          <p:cNvPr id="40" name="Text 38"/>
          <p:cNvSpPr/>
          <p:nvPr/>
        </p:nvSpPr>
        <p:spPr>
          <a:xfrm>
            <a:off x="9955431" y="9188798"/>
            <a:ext cx="1474128" cy="7171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835"/>
              </a:lnSpc>
              <a:buNone/>
            </a:pPr>
            <a:r>
              <a:rPr lang="en-US" sz="34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₹1,729</a:t>
            </a:r>
            <a:endParaRPr lang="en-US" sz="3450" dirty="0"/>
          </a:p>
        </p:txBody>
      </p:sp>
      <p:sp>
        <p:nvSpPr>
          <p:cNvPr id="41" name="Text 39"/>
          <p:cNvSpPr/>
          <p:nvPr/>
        </p:nvSpPr>
        <p:spPr>
          <a:xfrm>
            <a:off x="11447937" y="9406175"/>
            <a:ext cx="3390702" cy="4219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684"/>
              </a:lnSpc>
              <a:buNone/>
            </a:pPr>
            <a:r>
              <a:rPr lang="en-US" sz="195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over 7 simulated days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92216" y="0"/>
            <a:ext cx="9525" cy="10286931"/>
          </a:xfrm>
          <a:prstGeom prst="rect">
            <a:avLst/>
          </a:prstGeom>
          <a:solidFill>
            <a:srgbClr val="D7D3D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141549" y="0"/>
            <a:ext cx="9525" cy="10286931"/>
          </a:xfrm>
          <a:prstGeom prst="rect">
            <a:avLst/>
          </a:prstGeom>
          <a:solidFill>
            <a:srgbClr val="D7D3D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3190882" y="0"/>
            <a:ext cx="9525" cy="10286931"/>
          </a:xfrm>
          <a:prstGeom prst="rect">
            <a:avLst/>
          </a:prstGeom>
          <a:solidFill>
            <a:srgbClr val="D7D3D3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47714" y="761953"/>
            <a:ext cx="2215551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kern="0" spc="288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r>
              <a:rPr lang="en-US" sz="1800" b="1" kern="0" spc="288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PROBLEM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756841" y="766784"/>
            <a:ext cx="1631712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65"/>
              </a:lnSpc>
              <a:buNone/>
            </a:pPr>
            <a:r>
              <a:rPr lang="en-US" sz="1800" b="1" kern="0" spc="216" dirty="0">
                <a:solidFill>
                  <a:srgbClr val="7D79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FEELSLIKE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47714" y="1330606"/>
            <a:ext cx="16192501" cy="19021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47714" y="1768682"/>
            <a:ext cx="17811751" cy="790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3863"/>
              </a:lnSpc>
              <a:buNone/>
            </a:pPr>
            <a:r>
              <a:rPr lang="en-US" sz="5700" b="1" kern="0" spc="-114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Buildings run deaf</a:t>
            </a:r>
            <a:endParaRPr lang="en-US" sz="5700" dirty="0"/>
          </a:p>
        </p:txBody>
      </p:sp>
      <p:sp>
        <p:nvSpPr>
          <p:cNvPr id="9" name="Text 7"/>
          <p:cNvSpPr/>
          <p:nvPr/>
        </p:nvSpPr>
        <p:spPr>
          <a:xfrm>
            <a:off x="1047714" y="3016790"/>
            <a:ext cx="8633394" cy="990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820"/>
              </a:lnSpc>
              <a:buNone/>
            </a:pPr>
            <a:r>
              <a:rPr lang="en-US" sz="3000" b="1" kern="0" spc="-3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HVAC is scheduled for the building, not for the people inside it.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1047714" y="4388381"/>
            <a:ext cx="133295" cy="133295"/>
          </a:xfrm>
          <a:prstGeom prst="rect">
            <a:avLst/>
          </a:prstGeom>
          <a:solidFill>
            <a:srgbClr val="EC3013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390536" y="4274107"/>
            <a:ext cx="10164385" cy="4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309"/>
              </a:lnSpc>
              <a:buNone/>
            </a:pPr>
            <a:r>
              <a:rPr lang="en-US" sz="2250" dirty="0">
                <a:solidFill>
                  <a:srgbClr val="444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buildings spend roughly 40–50% of their electricity on HVAC.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047714" y="5107463"/>
            <a:ext cx="133295" cy="133295"/>
          </a:xfrm>
          <a:prstGeom prst="rect">
            <a:avLst/>
          </a:prstGeom>
          <a:solidFill>
            <a:srgbClr val="EC3013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390536" y="4993188"/>
            <a:ext cx="10046365" cy="8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309"/>
              </a:lnSpc>
              <a:buNone/>
            </a:pPr>
            <a:r>
              <a:rPr lang="en-US" sz="2250" dirty="0">
                <a:solidFill>
                  <a:srgbClr val="444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schedules overcool everyone to insure against feedback that arrives late or never.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047714" y="6240844"/>
            <a:ext cx="133295" cy="133295"/>
          </a:xfrm>
          <a:prstGeom prst="rect">
            <a:avLst/>
          </a:prstGeom>
          <a:solidFill>
            <a:srgbClr val="EC3013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390536" y="6126570"/>
            <a:ext cx="10046365" cy="8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309"/>
              </a:lnSpc>
              <a:buNone/>
            </a:pPr>
            <a:r>
              <a:rPr lang="en-US" sz="2250" dirty="0">
                <a:solidFill>
                  <a:srgbClr val="444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already provide the missing signal: “it’s stuffy”, “I’m freezing”, “there’s a draft”.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047714" y="7374225"/>
            <a:ext cx="133295" cy="133295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390536" y="7259951"/>
            <a:ext cx="10046365" cy="8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309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FeelsLike closes the loop: complaint → typed constraint → HVAC action → measured outcome.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12096749" y="3016790"/>
            <a:ext cx="5143466" cy="14492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2096749" y="3259830"/>
            <a:ext cx="5657812" cy="800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737"/>
              </a:lnSpc>
              <a:buNone/>
            </a:pPr>
            <a:r>
              <a:rPr lang="en-US" sz="6000" b="1" kern="0" spc="-12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40–50%</a:t>
            </a:r>
            <a:endParaRPr lang="en-US" sz="6000" dirty="0"/>
          </a:p>
        </p:txBody>
      </p:sp>
      <p:sp>
        <p:nvSpPr>
          <p:cNvPr id="20" name="Text 18"/>
          <p:cNvSpPr/>
          <p:nvPr/>
        </p:nvSpPr>
        <p:spPr>
          <a:xfrm>
            <a:off x="12096749" y="4136133"/>
            <a:ext cx="5657812" cy="4219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684"/>
              </a:lnSpc>
              <a:buNone/>
            </a:pPr>
            <a:r>
              <a:rPr lang="en-US" sz="195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commercial electricity goes to HVAC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2096749" y="4805625"/>
            <a:ext cx="5143466" cy="14492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2096749" y="5048665"/>
            <a:ext cx="5657812" cy="800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737"/>
              </a:lnSpc>
              <a:buNone/>
            </a:pPr>
            <a:r>
              <a:rPr lang="en-US" sz="6000" b="1" kern="0" spc="-12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22°C</a:t>
            </a:r>
            <a:endParaRPr lang="en-US" sz="6000" dirty="0"/>
          </a:p>
        </p:txBody>
      </p:sp>
      <p:sp>
        <p:nvSpPr>
          <p:cNvPr id="23" name="Text 21"/>
          <p:cNvSpPr/>
          <p:nvPr/>
        </p:nvSpPr>
        <p:spPr>
          <a:xfrm>
            <a:off x="12096749" y="5924967"/>
            <a:ext cx="5657812" cy="4219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684"/>
              </a:lnSpc>
              <a:buNone/>
            </a:pPr>
            <a:r>
              <a:rPr lang="en-US" sz="195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aggressive fixed setpoint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12096749" y="6594460"/>
            <a:ext cx="5143466" cy="14492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2096749" y="6837500"/>
            <a:ext cx="5657812" cy="800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737"/>
              </a:lnSpc>
              <a:buNone/>
            </a:pPr>
            <a:r>
              <a:rPr lang="en-US" sz="6000" b="1" kern="0" spc="-12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−26.6%</a:t>
            </a:r>
            <a:endParaRPr lang="en-US" sz="6000" dirty="0"/>
          </a:p>
        </p:txBody>
      </p:sp>
      <p:sp>
        <p:nvSpPr>
          <p:cNvPr id="26" name="Text 24"/>
          <p:cNvSpPr/>
          <p:nvPr/>
        </p:nvSpPr>
        <p:spPr>
          <a:xfrm>
            <a:off x="12096749" y="7713802"/>
            <a:ext cx="5297770" cy="8057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4684"/>
              </a:lnSpc>
              <a:buNone/>
            </a:pPr>
            <a:r>
              <a:rPr lang="en-US" sz="195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in our 7-day A/B, with zero occupied violations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1047714" y="9380286"/>
            <a:ext cx="16192501" cy="19021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047714" y="9589738"/>
            <a:ext cx="3755104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65"/>
              </a:lnSpc>
              <a:buNone/>
            </a:pPr>
            <a:r>
              <a:rPr lang="en-US" sz="1800" b="1" kern="0" spc="144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FeelsLike · Team Goldilocks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6541135" y="9589738"/>
            <a:ext cx="775280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14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92216" y="0"/>
            <a:ext cx="9525" cy="10286931"/>
          </a:xfrm>
          <a:prstGeom prst="rect">
            <a:avLst/>
          </a:prstGeom>
          <a:solidFill>
            <a:srgbClr val="D7D3D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141549" y="0"/>
            <a:ext cx="9525" cy="10286931"/>
          </a:xfrm>
          <a:prstGeom prst="rect">
            <a:avLst/>
          </a:prstGeom>
          <a:solidFill>
            <a:srgbClr val="D7D3D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3190882" y="0"/>
            <a:ext cx="9525" cy="10286931"/>
          </a:xfrm>
          <a:prstGeom prst="rect">
            <a:avLst/>
          </a:prstGeom>
          <a:solidFill>
            <a:srgbClr val="D7D3D3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47714" y="761953"/>
            <a:ext cx="3142952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kern="0" spc="288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r>
              <a:rPr lang="en-US" sz="1800" b="1" kern="0" spc="288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ARCHITECTURE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756841" y="766784"/>
            <a:ext cx="1631712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65"/>
              </a:lnSpc>
              <a:buNone/>
            </a:pPr>
            <a:r>
              <a:rPr lang="en-US" sz="1800" b="1" kern="0" spc="216" dirty="0">
                <a:solidFill>
                  <a:srgbClr val="7D79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FEELSLIKE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47714" y="1330606"/>
            <a:ext cx="16192501" cy="19021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47714" y="1768682"/>
            <a:ext cx="17811751" cy="790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3863"/>
              </a:lnSpc>
              <a:buNone/>
            </a:pPr>
            <a:r>
              <a:rPr lang="en-US" sz="5700" b="1" kern="0" spc="-114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contract connects the whole system</a:t>
            </a:r>
            <a:endParaRPr lang="en-US" sz="5700" dirty="0"/>
          </a:p>
        </p:txBody>
      </p:sp>
      <p:sp>
        <p:nvSpPr>
          <p:cNvPr id="9" name="Shape 7"/>
          <p:cNvSpPr/>
          <p:nvPr/>
        </p:nvSpPr>
        <p:spPr>
          <a:xfrm>
            <a:off x="1047714" y="5359937"/>
            <a:ext cx="16192501" cy="14492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047714" y="3092948"/>
            <a:ext cx="16192501" cy="14492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295358" y="3374105"/>
            <a:ext cx="2419380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95358" y="3880790"/>
            <a:ext cx="2419380" cy="481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468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Occupant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295358" y="4418874"/>
            <a:ext cx="2275636" cy="655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6157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Plain-language feedback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742438" y="3107440"/>
            <a:ext cx="9525" cy="2252498"/>
          </a:xfrm>
          <a:prstGeom prst="rect">
            <a:avLst/>
          </a:prstGeom>
          <a:solidFill>
            <a:srgbClr val="BAB6B6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994913" y="3374105"/>
            <a:ext cx="2419380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994913" y="3880790"/>
            <a:ext cx="2419380" cy="481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468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Parser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3994913" y="4418874"/>
            <a:ext cx="2275636" cy="655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6157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with a rules fallback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441993" y="3107440"/>
            <a:ext cx="9525" cy="2252498"/>
          </a:xfrm>
          <a:prstGeom prst="rect">
            <a:avLst/>
          </a:prstGeom>
          <a:solidFill>
            <a:srgbClr val="BAB6B6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694468" y="3374105"/>
            <a:ext cx="2419380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694468" y="3880790"/>
            <a:ext cx="2419380" cy="481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468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 store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6694468" y="4418874"/>
            <a:ext cx="2419380" cy="3467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6157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Decay and arbitration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141549" y="3107440"/>
            <a:ext cx="9525" cy="2252498"/>
          </a:xfrm>
          <a:prstGeom prst="rect">
            <a:avLst/>
          </a:prstGeom>
          <a:solidFill>
            <a:srgbClr val="BAB6B6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394024" y="3374105"/>
            <a:ext cx="2419380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394024" y="3880790"/>
            <a:ext cx="2419380" cy="481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468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9394024" y="4418874"/>
            <a:ext cx="2275636" cy="655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6157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Setpoint and fan commands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1841104" y="3107440"/>
            <a:ext cx="9525" cy="2252498"/>
          </a:xfrm>
          <a:prstGeom prst="rect">
            <a:avLst/>
          </a:prstGeom>
          <a:solidFill>
            <a:srgbClr val="BAB6B6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12093578" y="3374105"/>
            <a:ext cx="2419380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093578" y="3880790"/>
            <a:ext cx="2419380" cy="481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468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twin</a:t>
            </a:r>
            <a:endParaRPr lang="en-US" sz="2250" dirty="0"/>
          </a:p>
        </p:txBody>
      </p:sp>
      <p:sp>
        <p:nvSpPr>
          <p:cNvPr id="29" name="Text 27"/>
          <p:cNvSpPr/>
          <p:nvPr/>
        </p:nvSpPr>
        <p:spPr>
          <a:xfrm>
            <a:off x="12093578" y="4418874"/>
            <a:ext cx="2275636" cy="655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6157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5-zone RC thermal model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4540659" y="3107440"/>
            <a:ext cx="9525" cy="2252498"/>
          </a:xfrm>
          <a:prstGeom prst="rect">
            <a:avLst/>
          </a:prstGeom>
          <a:solidFill>
            <a:srgbClr val="BAB6B6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4793134" y="3374105"/>
            <a:ext cx="2419380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4793134" y="3880790"/>
            <a:ext cx="2419380" cy="481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468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2250" dirty="0"/>
          </a:p>
        </p:txBody>
      </p:sp>
      <p:sp>
        <p:nvSpPr>
          <p:cNvPr id="33" name="Text 31"/>
          <p:cNvSpPr/>
          <p:nvPr/>
        </p:nvSpPr>
        <p:spPr>
          <a:xfrm>
            <a:off x="14793134" y="4418874"/>
            <a:ext cx="2275636" cy="655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6157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race and floor plan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047714" y="5995011"/>
            <a:ext cx="3597437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kern="0" spc="288" dirty="0">
                <a:solidFill>
                  <a:srgbClr val="7D79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TYPED CONTRACT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622892" y="5888738"/>
            <a:ext cx="8289075" cy="5401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383"/>
              </a:lnSpc>
              <a:buNone/>
            </a:pPr>
            <a:r>
              <a:rPr lang="en-US" sz="25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ParsedComplaint</a:t>
            </a:r>
            <a:r>
              <a:rPr lang="en-US" sz="255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r>
              <a:rPr lang="en-US" sz="25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</a:t>
            </a:r>
            <a:r>
              <a:rPr lang="en-US" sz="255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r>
              <a:rPr lang="en-US" sz="25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</a:t>
            </a:r>
            <a:r>
              <a:rPr lang="en-US" sz="255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r>
              <a:rPr lang="en-US" sz="25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</a:t>
            </a:r>
            <a:endParaRPr lang="en-US" sz="2550" dirty="0"/>
          </a:p>
        </p:txBody>
      </p:sp>
      <p:sp>
        <p:nvSpPr>
          <p:cNvPr id="36" name="Text 34"/>
          <p:cNvSpPr/>
          <p:nvPr/>
        </p:nvSpPr>
        <p:spPr>
          <a:xfrm>
            <a:off x="1047714" y="6752662"/>
            <a:ext cx="17811751" cy="483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280"/>
              </a:lnSpc>
              <a:buNone/>
            </a:pPr>
            <a:r>
              <a:rPr lang="en-US" sz="27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LLM never controls the HVAC directly.</a:t>
            </a:r>
            <a:endParaRPr lang="en-US" sz="2700" dirty="0"/>
          </a:p>
        </p:txBody>
      </p:sp>
      <p:sp>
        <p:nvSpPr>
          <p:cNvPr id="37" name="Text 35"/>
          <p:cNvSpPr/>
          <p:nvPr/>
        </p:nvSpPr>
        <p:spPr>
          <a:xfrm>
            <a:off x="1047714" y="7312635"/>
            <a:ext cx="13096866" cy="4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309"/>
              </a:lnSpc>
              <a:buNone/>
            </a:pPr>
            <a:r>
              <a:rPr lang="en-US" sz="2250" dirty="0">
                <a:solidFill>
                  <a:srgbClr val="444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only classifies a message into a validated schema — the control math stays deterministic.</a:t>
            </a:r>
            <a:endParaRPr lang="en-US" sz="2250" dirty="0"/>
          </a:p>
        </p:txBody>
      </p:sp>
      <p:sp>
        <p:nvSpPr>
          <p:cNvPr id="38" name="Shape 36"/>
          <p:cNvSpPr/>
          <p:nvPr/>
        </p:nvSpPr>
        <p:spPr>
          <a:xfrm>
            <a:off x="1047714" y="9380286"/>
            <a:ext cx="16192501" cy="19021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1047714" y="9589738"/>
            <a:ext cx="3755104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65"/>
              </a:lnSpc>
              <a:buNone/>
            </a:pPr>
            <a:r>
              <a:rPr lang="en-US" sz="1800" b="1" kern="0" spc="144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FeelsLike · Team Goldilocks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6541135" y="9589738"/>
            <a:ext cx="775280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14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92216" y="0"/>
            <a:ext cx="9525" cy="10286931"/>
          </a:xfrm>
          <a:prstGeom prst="rect">
            <a:avLst/>
          </a:prstGeom>
          <a:solidFill>
            <a:srgbClr val="D7D3D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141549" y="0"/>
            <a:ext cx="9525" cy="10286931"/>
          </a:xfrm>
          <a:prstGeom prst="rect">
            <a:avLst/>
          </a:prstGeom>
          <a:solidFill>
            <a:srgbClr val="D7D3D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3190882" y="0"/>
            <a:ext cx="9525" cy="10286931"/>
          </a:xfrm>
          <a:prstGeom prst="rect">
            <a:avLst/>
          </a:prstGeom>
          <a:solidFill>
            <a:srgbClr val="D7D3D3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47714" y="761953"/>
            <a:ext cx="2844889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kern="0" spc="288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r>
              <a:rPr lang="en-US" sz="1800" b="1" kern="0" spc="288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DIGITAL TWIN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756841" y="766784"/>
            <a:ext cx="1631712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65"/>
              </a:lnSpc>
              <a:buNone/>
            </a:pPr>
            <a:r>
              <a:rPr lang="en-US" sz="1800" b="1" kern="0" spc="216" dirty="0">
                <a:solidFill>
                  <a:srgbClr val="7D79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FEELSLIKE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47714" y="1330606"/>
            <a:ext cx="16192501" cy="19021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47714" y="1768682"/>
            <a:ext cx="17811751" cy="790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3863"/>
              </a:lnSpc>
              <a:buNone/>
            </a:pPr>
            <a:r>
              <a:rPr lang="en-US" sz="5700" b="1" kern="0" spc="-114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twin models real building physics</a:t>
            </a:r>
            <a:endParaRPr lang="en-US" sz="5700" dirty="0"/>
          </a:p>
        </p:txBody>
      </p:sp>
      <p:sp>
        <p:nvSpPr>
          <p:cNvPr id="9" name="Text 7"/>
          <p:cNvSpPr/>
          <p:nvPr/>
        </p:nvSpPr>
        <p:spPr>
          <a:xfrm>
            <a:off x="1047714" y="2692913"/>
            <a:ext cx="17811751" cy="451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713"/>
              </a:lnSpc>
              <a:buNone/>
            </a:pPr>
            <a:r>
              <a:rPr lang="en-US" sz="21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zones · real adjacency · deterministic weather · capacity-limited HVAC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047714" y="3544308"/>
            <a:ext cx="6095926" cy="3809991"/>
          </a:xfrm>
          <a:prstGeom prst="rect">
            <a:avLst/>
          </a:prstGeom>
          <a:ln w="14492">
            <a:solidFill>
              <a:srgbClr val="201E1D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062205" y="6065130"/>
            <a:ext cx="3640165" cy="14492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687879" y="3558800"/>
            <a:ext cx="14492" cy="2520823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271733" y="3768327"/>
            <a:ext cx="3527280" cy="6286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137"/>
              </a:lnSpc>
              <a:buNone/>
            </a:pPr>
            <a:r>
              <a:rPr lang="en-US" sz="300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271733" y="5501308"/>
            <a:ext cx="3527280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65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Office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702371" y="4804719"/>
            <a:ext cx="2426777" cy="14492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911898" y="3768327"/>
            <a:ext cx="2208494" cy="510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889"/>
              </a:lnSpc>
              <a:buNone/>
            </a:pPr>
            <a:r>
              <a:rPr lang="en-US" sz="240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911898" y="4240897"/>
            <a:ext cx="2208494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65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Conf. Room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911898" y="5028738"/>
            <a:ext cx="2208494" cy="510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889"/>
              </a:lnSpc>
              <a:buNone/>
            </a:pPr>
            <a:r>
              <a:rPr lang="en-US" sz="240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911898" y="5515800"/>
            <a:ext cx="2208494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65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Cabin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687879" y="6079623"/>
            <a:ext cx="14492" cy="1260185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271733" y="6289150"/>
            <a:ext cx="3527280" cy="510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889"/>
              </a:lnSpc>
              <a:buNone/>
            </a:pPr>
            <a:r>
              <a:rPr lang="en-US" sz="240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271733" y="6775985"/>
            <a:ext cx="3527280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65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Lobby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702371" y="6079623"/>
            <a:ext cx="2426777" cy="14492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911898" y="6303642"/>
            <a:ext cx="2208494" cy="510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889"/>
              </a:lnSpc>
              <a:buNone/>
            </a:pPr>
            <a:r>
              <a:rPr lang="en-US" sz="240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4911898" y="6775985"/>
            <a:ext cx="2208494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65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Cafeteria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47714" y="7506689"/>
            <a:ext cx="6705518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65"/>
              </a:lnSpc>
              <a:buNone/>
            </a:pPr>
            <a:r>
              <a:rPr lang="en-US" sz="1800" dirty="0">
                <a:solidFill>
                  <a:srgbClr val="7D79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≈520 m² simulated floor plate, coupled through shared walls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096099" y="3544308"/>
            <a:ext cx="10058527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kern="0" spc="288" dirty="0">
                <a:solidFill>
                  <a:srgbClr val="7D79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TWIN MODELS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8096099" y="3993781"/>
            <a:ext cx="9144115" cy="9525"/>
          </a:xfrm>
          <a:prstGeom prst="rect">
            <a:avLst/>
          </a:prstGeom>
          <a:solidFill>
            <a:srgbClr val="D7D3D3"/>
          </a:solidFill>
          <a:ln/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8096099" y="4265201"/>
            <a:ext cx="114274" cy="114274"/>
          </a:xfrm>
          <a:prstGeom prst="rect">
            <a:avLst/>
          </a:prstGeom>
          <a:solidFill>
            <a:srgbClr val="EC3013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8400805" y="4170023"/>
            <a:ext cx="5840220" cy="4114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773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Envelope conduction and inter-zone coupling</a:t>
            </a:r>
            <a:endParaRPr lang="en-US" sz="2100" dirty="0"/>
          </a:p>
        </p:txBody>
      </p:sp>
      <p:sp>
        <p:nvSpPr>
          <p:cNvPr id="31" name="Shape 29"/>
          <p:cNvSpPr/>
          <p:nvPr/>
        </p:nvSpPr>
        <p:spPr>
          <a:xfrm>
            <a:off x="8096099" y="4714749"/>
            <a:ext cx="9144115" cy="9525"/>
          </a:xfrm>
          <a:prstGeom prst="rect">
            <a:avLst/>
          </a:prstGeom>
          <a:solidFill>
            <a:srgbClr val="D7D3D3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8096099" y="4986169"/>
            <a:ext cx="114274" cy="114274"/>
          </a:xfrm>
          <a:prstGeom prst="rect">
            <a:avLst/>
          </a:prstGeom>
          <a:solidFill>
            <a:srgbClr val="EC3013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8400805" y="4890991"/>
            <a:ext cx="3910611" cy="4114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773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and occupant heat gains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8096099" y="5435718"/>
            <a:ext cx="9144115" cy="9525"/>
          </a:xfrm>
          <a:prstGeom prst="rect">
            <a:avLst/>
          </a:prstGeom>
          <a:solidFill>
            <a:srgbClr val="D7D3D3"/>
          </a:solidFill>
          <a:ln/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8096099" y="5707137"/>
            <a:ext cx="114274" cy="114274"/>
          </a:xfrm>
          <a:prstGeom prst="rect">
            <a:avLst/>
          </a:prstGeom>
          <a:solidFill>
            <a:srgbClr val="EC3013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8400805" y="5611959"/>
            <a:ext cx="4249524" cy="4114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773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HVAC cooling with finite capacity</a:t>
            </a:r>
            <a:endParaRPr lang="en-US" sz="2100" dirty="0"/>
          </a:p>
        </p:txBody>
      </p:sp>
      <p:sp>
        <p:nvSpPr>
          <p:cNvPr id="37" name="Shape 35"/>
          <p:cNvSpPr/>
          <p:nvPr/>
        </p:nvSpPr>
        <p:spPr>
          <a:xfrm>
            <a:off x="8096099" y="6156686"/>
            <a:ext cx="9144115" cy="9525"/>
          </a:xfrm>
          <a:prstGeom prst="rect">
            <a:avLst/>
          </a:prstGeom>
          <a:solidFill>
            <a:srgbClr val="D7D3D3"/>
          </a:solidFill>
          <a:ln/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8096099" y="6428105"/>
            <a:ext cx="114274" cy="114274"/>
          </a:xfrm>
          <a:prstGeom prst="rect">
            <a:avLst/>
          </a:prstGeom>
          <a:solidFill>
            <a:srgbClr val="EC3013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8400805" y="6332927"/>
            <a:ext cx="5542489" cy="4114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773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Ventilation energy and outdoor-air coupling</a:t>
            </a:r>
            <a:endParaRPr lang="en-US" sz="2100" dirty="0"/>
          </a:p>
        </p:txBody>
      </p:sp>
      <p:sp>
        <p:nvSpPr>
          <p:cNvPr id="40" name="Shape 38"/>
          <p:cNvSpPr/>
          <p:nvPr/>
        </p:nvSpPr>
        <p:spPr>
          <a:xfrm>
            <a:off x="8096099" y="6877654"/>
            <a:ext cx="9144115" cy="9525"/>
          </a:xfrm>
          <a:prstGeom prst="rect">
            <a:avLst/>
          </a:prstGeom>
          <a:solidFill>
            <a:srgbClr val="D7D3D3"/>
          </a:solidFill>
          <a:ln/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8096099" y="7149074"/>
            <a:ext cx="114274" cy="114274"/>
          </a:xfrm>
          <a:prstGeom prst="rect">
            <a:avLst/>
          </a:prstGeom>
          <a:solidFill>
            <a:srgbClr val="EC3013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8400805" y="7053896"/>
            <a:ext cx="5002820" cy="4114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773"/>
              </a:lnSpc>
              <a:buNone/>
            </a:pPr>
            <a:r>
              <a:rPr lang="en-US" sz="21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Occupied comfort band: 23.0–26.5°C</a:t>
            </a:r>
            <a:endParaRPr lang="en-US" sz="2100" dirty="0"/>
          </a:p>
        </p:txBody>
      </p:sp>
      <p:sp>
        <p:nvSpPr>
          <p:cNvPr id="43" name="Shape 41"/>
          <p:cNvSpPr/>
          <p:nvPr/>
        </p:nvSpPr>
        <p:spPr>
          <a:xfrm>
            <a:off x="8096099" y="8730419"/>
            <a:ext cx="2633210" cy="649868"/>
          </a:xfrm>
          <a:prstGeom prst="rect">
            <a:avLst/>
          </a:prstGeom>
          <a:ln w="14492">
            <a:solidFill>
              <a:srgbClr val="201E1D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8301091" y="8878261"/>
            <a:ext cx="2302223" cy="392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 / kWh energy price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10919740" y="8730419"/>
            <a:ext cx="3378256" cy="649868"/>
          </a:xfrm>
          <a:prstGeom prst="rect">
            <a:avLst/>
          </a:prstGeom>
          <a:ln w="14492">
            <a:solidFill>
              <a:srgbClr val="201E1D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11124732" y="8878261"/>
            <a:ext cx="3069620" cy="392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0.71 kg CO₂ / kWh grid factor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1047714" y="9380286"/>
            <a:ext cx="16192501" cy="19021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1047714" y="9589738"/>
            <a:ext cx="3755104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65"/>
              </a:lnSpc>
              <a:buNone/>
            </a:pPr>
            <a:r>
              <a:rPr lang="en-US" sz="1800" b="1" kern="0" spc="144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FeelsLike · Team Goldilocks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16541135" y="9589738"/>
            <a:ext cx="775280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14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92216" y="0"/>
            <a:ext cx="9525" cy="10286931"/>
          </a:xfrm>
          <a:prstGeom prst="rect">
            <a:avLst/>
          </a:prstGeom>
          <a:solidFill>
            <a:srgbClr val="D7D3D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141549" y="0"/>
            <a:ext cx="9525" cy="10286931"/>
          </a:xfrm>
          <a:prstGeom prst="rect">
            <a:avLst/>
          </a:prstGeom>
          <a:solidFill>
            <a:srgbClr val="D7D3D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3190882" y="0"/>
            <a:ext cx="9525" cy="10286931"/>
          </a:xfrm>
          <a:prstGeom prst="rect">
            <a:avLst/>
          </a:prstGeom>
          <a:solidFill>
            <a:srgbClr val="D7D3D3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47714" y="761953"/>
            <a:ext cx="2676512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kern="0" spc="288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r>
              <a:rPr lang="en-US" sz="1800" b="1" kern="0" spc="288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NLP PARSER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756841" y="766784"/>
            <a:ext cx="1631712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65"/>
              </a:lnSpc>
              <a:buNone/>
            </a:pPr>
            <a:r>
              <a:rPr lang="en-US" sz="1800" b="1" kern="0" spc="216" dirty="0">
                <a:solidFill>
                  <a:srgbClr val="7D79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FEELSLIKE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47714" y="1330606"/>
            <a:ext cx="16192501" cy="19021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47714" y="1768682"/>
            <a:ext cx="17811751" cy="790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3863"/>
              </a:lnSpc>
              <a:buNone/>
            </a:pPr>
            <a:r>
              <a:rPr lang="en-US" sz="5700" b="1" kern="0" spc="-114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parser understands how people talk</a:t>
            </a:r>
            <a:endParaRPr lang="en-US" sz="5700" dirty="0"/>
          </a:p>
        </p:txBody>
      </p:sp>
      <p:sp>
        <p:nvSpPr>
          <p:cNvPr id="9" name="Text 7"/>
          <p:cNvSpPr/>
          <p:nvPr/>
        </p:nvSpPr>
        <p:spPr>
          <a:xfrm>
            <a:off x="1047714" y="2692913"/>
            <a:ext cx="17811751" cy="451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713"/>
              </a:lnSpc>
              <a:buNone/>
            </a:pPr>
            <a:r>
              <a:rPr lang="en-US" sz="21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chat message in → one validated constraint out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047714" y="3525287"/>
            <a:ext cx="16192501" cy="14492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047714" y="4617760"/>
            <a:ext cx="16192501" cy="9525"/>
          </a:xfrm>
          <a:prstGeom prst="rect">
            <a:avLst/>
          </a:prstGeom>
          <a:solidFill>
            <a:srgbClr val="D7D3D3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47714" y="3813010"/>
            <a:ext cx="14216223" cy="56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27"/>
              </a:lnSpc>
              <a:buNone/>
            </a:pPr>
            <a:r>
              <a:rPr lang="en-US" sz="2700" b="1" kern="0" spc="-27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“it’s really stuffy in Conference Room B”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14352491" y="3806444"/>
            <a:ext cx="1368874" cy="544651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4523941" y="3901694"/>
            <a:ext cx="1102174" cy="392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kern="0" spc="18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STUFFY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5854660" y="3806444"/>
            <a:ext cx="1385554" cy="544651"/>
          </a:xfrm>
          <a:prstGeom prst="rect">
            <a:avLst/>
          </a:prstGeom>
          <a:ln w="14492">
            <a:solidFill>
              <a:srgbClr val="201E1D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6021552" y="3897136"/>
            <a:ext cx="1127971" cy="401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kern="0" spc="18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ZONE_B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47714" y="5700571"/>
            <a:ext cx="16192501" cy="9525"/>
          </a:xfrm>
          <a:prstGeom prst="rect">
            <a:avLst/>
          </a:prstGeom>
          <a:solidFill>
            <a:srgbClr val="D7D3D3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47714" y="4895822"/>
            <a:ext cx="13944147" cy="56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27"/>
              </a:lnSpc>
              <a:buNone/>
            </a:pPr>
            <a:r>
              <a:rPr lang="en-US" sz="2700" b="1" kern="0" spc="-27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“cabin mein bahut garmi hai bhai”</a:t>
            </a:r>
            <a:endParaRPr lang="en-US" sz="2700" dirty="0"/>
          </a:p>
        </p:txBody>
      </p:sp>
      <p:sp>
        <p:nvSpPr>
          <p:cNvPr id="19" name="Shape 17"/>
          <p:cNvSpPr/>
          <p:nvPr/>
        </p:nvSpPr>
        <p:spPr>
          <a:xfrm>
            <a:off x="14105150" y="4889255"/>
            <a:ext cx="1603611" cy="544651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4276600" y="4984505"/>
            <a:ext cx="1336911" cy="392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kern="0" spc="18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TOO_HOT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5842055" y="4889255"/>
            <a:ext cx="1398159" cy="544651"/>
          </a:xfrm>
          <a:prstGeom prst="rect">
            <a:avLst/>
          </a:prstGeom>
          <a:ln w="14492">
            <a:solidFill>
              <a:srgbClr val="201E1D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6008947" y="4979947"/>
            <a:ext cx="1140576" cy="401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kern="0" spc="18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ZONE_C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047714" y="6783382"/>
            <a:ext cx="16192501" cy="14492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047714" y="5978633"/>
            <a:ext cx="11478106" cy="56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27"/>
              </a:lnSpc>
              <a:buNone/>
            </a:pPr>
            <a:r>
              <a:rPr lang="en-US" sz="2700" b="1" kern="0" spc="-27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“It’s fine now, thanks”</a:t>
            </a:r>
            <a:endParaRPr lang="en-US" sz="2700" dirty="0"/>
          </a:p>
        </p:txBody>
      </p:sp>
      <p:sp>
        <p:nvSpPr>
          <p:cNvPr id="25" name="Shape 23"/>
          <p:cNvSpPr/>
          <p:nvPr/>
        </p:nvSpPr>
        <p:spPr>
          <a:xfrm>
            <a:off x="11863294" y="5972066"/>
            <a:ext cx="2057235" cy="544651"/>
          </a:xfrm>
          <a:prstGeom prst="rect">
            <a:avLst/>
          </a:prstGeom>
          <a:solidFill>
            <a:srgbClr val="EC3013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2034744" y="6067316"/>
            <a:ext cx="1790535" cy="392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kern="0" spc="180" dirty="0">
                <a:solidFill>
                  <a:srgbClr val="FFF2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RETRACTION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4053825" y="5972066"/>
            <a:ext cx="3186390" cy="544651"/>
          </a:xfrm>
          <a:prstGeom prst="rect">
            <a:avLst/>
          </a:prstGeom>
          <a:ln w="14492">
            <a:solidFill>
              <a:srgbClr val="201E1D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4220717" y="6062758"/>
            <a:ext cx="2948198" cy="401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kern="0" spc="18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CLEARS CONSTRAINT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47714" y="7216929"/>
            <a:ext cx="5514675" cy="86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713"/>
              </a:lnSpc>
              <a:buNone/>
            </a:pPr>
            <a:r>
              <a:rPr lang="en-US" sz="4200" b="1" kern="0" spc="-84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~0 ms</a:t>
            </a:r>
            <a:endParaRPr lang="en-US" sz="4200" dirty="0"/>
          </a:p>
        </p:txBody>
      </p:sp>
      <p:sp>
        <p:nvSpPr>
          <p:cNvPr id="30" name="Text 28"/>
          <p:cNvSpPr/>
          <p:nvPr/>
        </p:nvSpPr>
        <p:spPr>
          <a:xfrm>
            <a:off x="1047714" y="8119800"/>
            <a:ext cx="5514675" cy="4219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684"/>
              </a:lnSpc>
              <a:buNone/>
            </a:pPr>
            <a:r>
              <a:rPr lang="en-US" sz="195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rules-fallback latency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6441993" y="7216929"/>
            <a:ext cx="9525" cy="1286678"/>
          </a:xfrm>
          <a:prstGeom prst="rect">
            <a:avLst/>
          </a:prstGeom>
          <a:solidFill>
            <a:srgbClr val="BAB6B6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827763" y="7216929"/>
            <a:ext cx="5514675" cy="86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713"/>
              </a:lnSpc>
              <a:buNone/>
            </a:pPr>
            <a:r>
              <a:rPr lang="en-US" sz="4200" b="1" kern="0" spc="-84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0.3–0.8 s</a:t>
            </a:r>
            <a:endParaRPr lang="en-US" sz="4200" dirty="0"/>
          </a:p>
        </p:txBody>
      </p:sp>
      <p:sp>
        <p:nvSpPr>
          <p:cNvPr id="33" name="Text 31"/>
          <p:cNvSpPr/>
          <p:nvPr/>
        </p:nvSpPr>
        <p:spPr>
          <a:xfrm>
            <a:off x="6827763" y="8119800"/>
            <a:ext cx="5514675" cy="4219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684"/>
              </a:lnSpc>
              <a:buNone/>
            </a:pPr>
            <a:r>
              <a:rPr lang="en-US" sz="195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Groq path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11841104" y="7216929"/>
            <a:ext cx="9525" cy="1286678"/>
          </a:xfrm>
          <a:prstGeom prst="rect">
            <a:avLst/>
          </a:prstGeom>
          <a:solidFill>
            <a:srgbClr val="BAB6B6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12226873" y="7216929"/>
            <a:ext cx="5514675" cy="86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713"/>
              </a:lnSpc>
              <a:buNone/>
            </a:pPr>
            <a:r>
              <a:rPr lang="en-US" sz="4200" b="1" kern="0" spc="-84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 s</a:t>
            </a:r>
            <a:endParaRPr lang="en-US" sz="4200" dirty="0"/>
          </a:p>
        </p:txBody>
      </p:sp>
      <p:sp>
        <p:nvSpPr>
          <p:cNvPr id="36" name="Text 34"/>
          <p:cNvSpPr/>
          <p:nvPr/>
        </p:nvSpPr>
        <p:spPr>
          <a:xfrm>
            <a:off x="12226873" y="8119800"/>
            <a:ext cx="5514675" cy="4219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684"/>
              </a:lnSpc>
              <a:buNone/>
            </a:pPr>
            <a:r>
              <a:rPr lang="en-US" sz="195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hosted LLM end-to-end</a:t>
            </a:r>
            <a:endParaRPr lang="en-US" sz="1950" dirty="0"/>
          </a:p>
        </p:txBody>
      </p:sp>
      <p:sp>
        <p:nvSpPr>
          <p:cNvPr id="37" name="Shape 35"/>
          <p:cNvSpPr/>
          <p:nvPr/>
        </p:nvSpPr>
        <p:spPr>
          <a:xfrm>
            <a:off x="1047714" y="9380286"/>
            <a:ext cx="16192501" cy="19021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1047714" y="9589738"/>
            <a:ext cx="3755104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65"/>
              </a:lnSpc>
              <a:buNone/>
            </a:pPr>
            <a:r>
              <a:rPr lang="en-US" sz="1800" b="1" kern="0" spc="144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FeelsLike · Team Goldilocks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6541135" y="9589738"/>
            <a:ext cx="775280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14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92216" y="0"/>
            <a:ext cx="9525" cy="10286931"/>
          </a:xfrm>
          <a:prstGeom prst="rect">
            <a:avLst/>
          </a:prstGeom>
          <a:solidFill>
            <a:srgbClr val="D7D3D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141549" y="0"/>
            <a:ext cx="9525" cy="10286931"/>
          </a:xfrm>
          <a:prstGeom prst="rect">
            <a:avLst/>
          </a:prstGeom>
          <a:solidFill>
            <a:srgbClr val="D7D3D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3190882" y="0"/>
            <a:ext cx="9525" cy="10286931"/>
          </a:xfrm>
          <a:prstGeom prst="rect">
            <a:avLst/>
          </a:prstGeom>
          <a:solidFill>
            <a:srgbClr val="D7D3D3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47714" y="761953"/>
            <a:ext cx="4052088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kern="0" spc="288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r>
              <a:rPr lang="en-US" sz="1800" b="1" kern="0" spc="288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CONSTRAINT ENGINE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756841" y="766784"/>
            <a:ext cx="1631712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65"/>
              </a:lnSpc>
              <a:buNone/>
            </a:pPr>
            <a:r>
              <a:rPr lang="en-US" sz="1800" b="1" kern="0" spc="216" dirty="0">
                <a:solidFill>
                  <a:srgbClr val="7D79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FEELSLIKE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47714" y="1330606"/>
            <a:ext cx="16192501" cy="19021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47714" y="1768682"/>
            <a:ext cx="17811751" cy="790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3863"/>
              </a:lnSpc>
              <a:buNone/>
            </a:pPr>
            <a:r>
              <a:rPr lang="en-US" sz="5700" b="1" kern="0" spc="-114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 act as recency-weighted votes</a:t>
            </a:r>
            <a:endParaRPr lang="en-US" sz="5700" dirty="0"/>
          </a:p>
        </p:txBody>
      </p:sp>
      <p:sp>
        <p:nvSpPr>
          <p:cNvPr id="9" name="Text 7"/>
          <p:cNvSpPr/>
          <p:nvPr/>
        </p:nvSpPr>
        <p:spPr>
          <a:xfrm>
            <a:off x="1047714" y="3016790"/>
            <a:ext cx="10896674" cy="687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227"/>
              </a:lnSpc>
              <a:buNone/>
            </a:pPr>
            <a:r>
              <a:rPr lang="en-US" sz="3300" b="1" kern="0" spc="-33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influence</a:t>
            </a:r>
            <a:r>
              <a:rPr lang="en-US" sz="3300" b="1" kern="0" spc="-33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r>
              <a:rPr lang="en-US" sz="3300" b="1" kern="0" spc="-33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</a:t>
            </a:r>
            <a:r>
              <a:rPr lang="en-US" sz="3300" b="1" kern="0" spc="-33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r>
              <a:rPr lang="en-US" sz="3300" b="1" kern="0" spc="-33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</a:t>
            </a:r>
            <a:r>
              <a:rPr lang="en-US" sz="3300" b="1" kern="0" spc="-33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r>
              <a:rPr lang="en-US" sz="3300" b="1" kern="0" spc="-33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decay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1047714" y="3799726"/>
            <a:ext cx="10896674" cy="451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713"/>
              </a:lnSpc>
              <a:buNone/>
            </a:pPr>
            <a:r>
              <a:rPr lang="en-US" sz="21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decay(t) = 0.5^(age / 45 min) · a constraint expires after 2 h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047714" y="8466773"/>
            <a:ext cx="9906067" cy="14492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47714" y="6237674"/>
            <a:ext cx="1362043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47714" y="6668126"/>
            <a:ext cx="1238221" cy="1798647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857380" y="7136998"/>
            <a:ext cx="1362043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0.50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857380" y="7567450"/>
            <a:ext cx="1238221" cy="899323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667047" y="7586697"/>
            <a:ext cx="1362043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0.25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667047" y="8017149"/>
            <a:ext cx="1238221" cy="449624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76713" y="7979183"/>
            <a:ext cx="1362043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476713" y="8409636"/>
            <a:ext cx="1238221" cy="57137"/>
          </a:xfrm>
          <a:prstGeom prst="rect">
            <a:avLst/>
          </a:prstGeom>
          <a:solidFill>
            <a:srgbClr val="EC3013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047714" y="8614560"/>
            <a:ext cx="1314421" cy="74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65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857380" y="8614560"/>
            <a:ext cx="1314421" cy="74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65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+45 min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667047" y="8614560"/>
            <a:ext cx="1314421" cy="74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65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+90 min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76713" y="8614560"/>
            <a:ext cx="1314421" cy="74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3365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 h · expired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906242" y="3016790"/>
            <a:ext cx="5867370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kern="0" spc="288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CONFLICT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906242" y="3618729"/>
            <a:ext cx="5867370" cy="5401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383"/>
              </a:lnSpc>
              <a:buNone/>
            </a:pPr>
            <a:r>
              <a:rPr lang="en-US" sz="25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“stuffy”</a:t>
            </a:r>
            <a:endParaRPr lang="en-US" sz="2550" dirty="0"/>
          </a:p>
        </p:txBody>
      </p:sp>
      <p:sp>
        <p:nvSpPr>
          <p:cNvPr id="26" name="Text 24"/>
          <p:cNvSpPr/>
          <p:nvPr/>
        </p:nvSpPr>
        <p:spPr>
          <a:xfrm>
            <a:off x="11906242" y="4177872"/>
            <a:ext cx="5867370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65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 2 · 3 min ago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906242" y="4722599"/>
            <a:ext cx="5867370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kern="0" spc="216" dirty="0">
                <a:solidFill>
                  <a:srgbClr val="9B9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906242" y="5267326"/>
            <a:ext cx="5867370" cy="5401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383"/>
              </a:lnSpc>
              <a:buNone/>
            </a:pPr>
            <a:r>
              <a:rPr lang="en-US" sz="25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“too cold”</a:t>
            </a:r>
            <a:endParaRPr lang="en-US" sz="2550" dirty="0"/>
          </a:p>
        </p:txBody>
      </p:sp>
      <p:sp>
        <p:nvSpPr>
          <p:cNvPr id="29" name="Text 27"/>
          <p:cNvSpPr/>
          <p:nvPr/>
        </p:nvSpPr>
        <p:spPr>
          <a:xfrm>
            <a:off x="11906242" y="5826468"/>
            <a:ext cx="5867370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65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 2 · 1 min ago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1906242" y="6466448"/>
            <a:ext cx="5333973" cy="19021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1906242" y="6771154"/>
            <a:ext cx="5867370" cy="6581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713"/>
              </a:lnSpc>
              <a:buNone/>
            </a:pPr>
            <a:r>
              <a:rPr lang="en-US" sz="315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r>
              <a:rPr lang="en-US" sz="31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−0.1°C compromise</a:t>
            </a:r>
            <a:endParaRPr lang="en-US" sz="3150" dirty="0"/>
          </a:p>
        </p:txBody>
      </p:sp>
      <p:sp>
        <p:nvSpPr>
          <p:cNvPr id="32" name="Text 30"/>
          <p:cNvSpPr/>
          <p:nvPr/>
        </p:nvSpPr>
        <p:spPr>
          <a:xfrm>
            <a:off x="11906242" y="7486386"/>
            <a:ext cx="5867370" cy="4219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684"/>
              </a:lnSpc>
              <a:buNone/>
            </a:pPr>
            <a:r>
              <a:rPr lang="en-US" sz="195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severity-weighted, tilted toward the fresher claim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11906242" y="8117837"/>
            <a:ext cx="5493992" cy="731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65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claims decay, so neither occupant wins forever.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1047714" y="9380286"/>
            <a:ext cx="16192501" cy="19021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1047714" y="9589738"/>
            <a:ext cx="3755104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65"/>
              </a:lnSpc>
              <a:buNone/>
            </a:pPr>
            <a:r>
              <a:rPr lang="en-US" sz="1800" b="1" kern="0" spc="144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FeelsLike · Team Goldilocks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6541135" y="9589738"/>
            <a:ext cx="775280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14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C3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14" y="761953"/>
            <a:ext cx="4179699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kern="0" spc="288" dirty="0">
                <a:solidFill>
                  <a:srgbClr val="FFF2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06· RESULTS — 7-DAY A/B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5756841" y="766784"/>
            <a:ext cx="1631712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65"/>
              </a:lnSpc>
              <a:buNone/>
            </a:pPr>
            <a:r>
              <a:rPr lang="en-US" sz="1800" b="1" kern="0" spc="216" dirty="0">
                <a:solidFill>
                  <a:srgbClr val="F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FEELSLIKE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47714" y="1330606"/>
            <a:ext cx="16192501" cy="19021"/>
          </a:xfrm>
          <a:prstGeom prst="rect">
            <a:avLst/>
          </a:prstGeom>
          <a:solidFill>
            <a:srgbClr val="FFF2EF">
              <a:alpha val="45000"/>
            </a:srgbClr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47714" y="3079965"/>
            <a:ext cx="17811751" cy="20649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7351"/>
              </a:lnSpc>
              <a:buNone/>
            </a:pPr>
            <a:r>
              <a:rPr lang="en-US" sz="16800" b="1" kern="0" spc="-672" dirty="0">
                <a:solidFill>
                  <a:srgbClr val="FFF2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−26.6%</a:t>
            </a:r>
            <a:endParaRPr lang="en-US" sz="16800" dirty="0"/>
          </a:p>
        </p:txBody>
      </p:sp>
      <p:sp>
        <p:nvSpPr>
          <p:cNvPr id="6" name="Text 4"/>
          <p:cNvSpPr/>
          <p:nvPr/>
        </p:nvSpPr>
        <p:spPr>
          <a:xfrm>
            <a:off x="1047714" y="5335407"/>
            <a:ext cx="17811751" cy="7171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835"/>
              </a:lnSpc>
              <a:buNone/>
            </a:pPr>
            <a:r>
              <a:rPr lang="en-US" sz="3450" b="1" dirty="0">
                <a:solidFill>
                  <a:srgbClr val="FFF2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HVAC energy vs the static schedule</a:t>
            </a:r>
            <a:endParaRPr lang="en-US" sz="3450" dirty="0"/>
          </a:p>
        </p:txBody>
      </p:sp>
      <p:sp>
        <p:nvSpPr>
          <p:cNvPr id="7" name="Shape 5"/>
          <p:cNvSpPr/>
          <p:nvPr/>
        </p:nvSpPr>
        <p:spPr>
          <a:xfrm>
            <a:off x="1047714" y="7744899"/>
            <a:ext cx="4953034" cy="14492"/>
          </a:xfrm>
          <a:prstGeom prst="rect">
            <a:avLst/>
          </a:prstGeom>
          <a:solidFill>
            <a:srgbClr val="FFF2EF">
              <a:alpha val="45000"/>
            </a:srgbClr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47714" y="7968919"/>
            <a:ext cx="5448337" cy="89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102"/>
              </a:lnSpc>
              <a:buNone/>
            </a:pPr>
            <a:r>
              <a:rPr lang="en-US" sz="4350" b="1" dirty="0">
                <a:solidFill>
                  <a:srgbClr val="FFF2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min</a:t>
            </a:r>
            <a:endParaRPr lang="en-US" sz="4350" dirty="0"/>
          </a:p>
        </p:txBody>
      </p:sp>
      <p:sp>
        <p:nvSpPr>
          <p:cNvPr id="9" name="Text 7"/>
          <p:cNvSpPr/>
          <p:nvPr/>
        </p:nvSpPr>
        <p:spPr>
          <a:xfrm>
            <a:off x="1047714" y="8901301"/>
            <a:ext cx="5448337" cy="4219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684"/>
              </a:lnSpc>
              <a:buNone/>
            </a:pPr>
            <a:r>
              <a:rPr lang="en-US" sz="1950" dirty="0">
                <a:solidFill>
                  <a:srgbClr val="F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occupied comfort violations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6667447" y="7744899"/>
            <a:ext cx="4953034" cy="14492"/>
          </a:xfrm>
          <a:prstGeom prst="rect">
            <a:avLst/>
          </a:prstGeom>
          <a:solidFill>
            <a:srgbClr val="FFF2EF">
              <a:alpha val="45000"/>
            </a:srgbClr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67447" y="7968919"/>
            <a:ext cx="5448337" cy="89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102"/>
              </a:lnSpc>
              <a:buNone/>
            </a:pPr>
            <a:r>
              <a:rPr lang="en-US" sz="4350" b="1" dirty="0">
                <a:solidFill>
                  <a:srgbClr val="FFF2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₹1,729</a:t>
            </a:r>
            <a:endParaRPr lang="en-US" sz="4350" dirty="0"/>
          </a:p>
        </p:txBody>
      </p:sp>
      <p:sp>
        <p:nvSpPr>
          <p:cNvPr id="12" name="Text 10"/>
          <p:cNvSpPr/>
          <p:nvPr/>
        </p:nvSpPr>
        <p:spPr>
          <a:xfrm>
            <a:off x="6667447" y="8901301"/>
            <a:ext cx="5448337" cy="4219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684"/>
              </a:lnSpc>
              <a:buNone/>
            </a:pPr>
            <a:r>
              <a:rPr lang="en-US" sz="1950" dirty="0">
                <a:solidFill>
                  <a:srgbClr val="F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saved in 7 days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2287180" y="7744899"/>
            <a:ext cx="4953034" cy="14492"/>
          </a:xfrm>
          <a:prstGeom prst="rect">
            <a:avLst/>
          </a:prstGeom>
          <a:solidFill>
            <a:srgbClr val="FFF2EF">
              <a:alpha val="45000"/>
            </a:srgbClr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2287180" y="7968919"/>
            <a:ext cx="5448337" cy="89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102"/>
              </a:lnSpc>
              <a:buNone/>
            </a:pPr>
            <a:r>
              <a:rPr lang="en-US" sz="4350" b="1" dirty="0">
                <a:solidFill>
                  <a:srgbClr val="FFF2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136 kg</a:t>
            </a:r>
            <a:endParaRPr lang="en-US" sz="4350" dirty="0"/>
          </a:p>
        </p:txBody>
      </p:sp>
      <p:sp>
        <p:nvSpPr>
          <p:cNvPr id="15" name="Text 13"/>
          <p:cNvSpPr/>
          <p:nvPr/>
        </p:nvSpPr>
        <p:spPr>
          <a:xfrm>
            <a:off x="12287180" y="8901301"/>
            <a:ext cx="5448337" cy="4219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684"/>
              </a:lnSpc>
              <a:buNone/>
            </a:pPr>
            <a:r>
              <a:rPr lang="en-US" sz="1950" dirty="0">
                <a:solidFill>
                  <a:srgbClr val="F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CO₂ avoided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047714" y="9380286"/>
            <a:ext cx="16192501" cy="19021"/>
          </a:xfrm>
          <a:prstGeom prst="rect">
            <a:avLst/>
          </a:prstGeom>
          <a:solidFill>
            <a:srgbClr val="FFF2EF">
              <a:alpha val="45000"/>
            </a:srgbClr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47714" y="9589738"/>
            <a:ext cx="3755104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65"/>
              </a:lnSpc>
              <a:buNone/>
            </a:pPr>
            <a:r>
              <a:rPr lang="en-US" sz="1800" b="1" kern="0" spc="144" dirty="0">
                <a:solidFill>
                  <a:srgbClr val="F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FeelsLike · Team Goldilocks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541135" y="9589738"/>
            <a:ext cx="775280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dirty="0">
                <a:solidFill>
                  <a:srgbClr val="FFF2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14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92216" y="0"/>
            <a:ext cx="9525" cy="10286931"/>
          </a:xfrm>
          <a:prstGeom prst="rect">
            <a:avLst/>
          </a:prstGeom>
          <a:solidFill>
            <a:srgbClr val="D7D3D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141549" y="0"/>
            <a:ext cx="9525" cy="10286931"/>
          </a:xfrm>
          <a:prstGeom prst="rect">
            <a:avLst/>
          </a:prstGeom>
          <a:solidFill>
            <a:srgbClr val="D7D3D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3190882" y="0"/>
            <a:ext cx="9525" cy="10286931"/>
          </a:xfrm>
          <a:prstGeom prst="rect">
            <a:avLst/>
          </a:prstGeom>
          <a:solidFill>
            <a:srgbClr val="D7D3D3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47714" y="761953"/>
            <a:ext cx="3003634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kern="0" spc="288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r>
              <a:rPr lang="en-US" sz="1800" b="1" kern="0" spc="288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FULL RESULTS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756841" y="766784"/>
            <a:ext cx="1631712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65"/>
              </a:lnSpc>
              <a:buNone/>
            </a:pPr>
            <a:r>
              <a:rPr lang="en-US" sz="1800" b="1" kern="0" spc="216" dirty="0">
                <a:solidFill>
                  <a:srgbClr val="7D79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FEELSLIKE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47714" y="1330606"/>
            <a:ext cx="16192501" cy="19021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47714" y="1768682"/>
            <a:ext cx="17811751" cy="790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3863"/>
              </a:lnSpc>
              <a:buNone/>
            </a:pPr>
            <a:r>
              <a:rPr lang="en-US" sz="5700" b="1" kern="0" spc="-114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comparison makes the trade-off explicit</a:t>
            </a:r>
            <a:endParaRPr lang="en-US" sz="5700" dirty="0"/>
          </a:p>
        </p:txBody>
      </p:sp>
      <p:sp>
        <p:nvSpPr>
          <p:cNvPr id="9" name="Shape 7"/>
          <p:cNvSpPr/>
          <p:nvPr/>
        </p:nvSpPr>
        <p:spPr>
          <a:xfrm>
            <a:off x="1047714" y="3485284"/>
            <a:ext cx="9258313" cy="14492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200104" y="2997694"/>
            <a:ext cx="2533707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kern="0" spc="180" dirty="0">
                <a:solidFill>
                  <a:srgbClr val="7D79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93906" y="2997694"/>
            <a:ext cx="1046096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kern="0" spc="180" dirty="0">
                <a:solidFill>
                  <a:srgbClr val="7D79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KWH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54233" y="2997694"/>
            <a:ext cx="1167314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kern="0" spc="180" dirty="0">
                <a:solidFill>
                  <a:srgbClr val="7D79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₹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135778" y="2997694"/>
            <a:ext cx="1333565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kern="0" spc="180" dirty="0">
                <a:solidFill>
                  <a:srgbClr val="7D79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KG CO₂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538542" y="2997694"/>
            <a:ext cx="1466905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kern="0" spc="180" dirty="0">
                <a:solidFill>
                  <a:srgbClr val="7D79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VIOL-MIN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062523" y="2997694"/>
            <a:ext cx="1167314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kern="0" spc="180" dirty="0">
                <a:solidFill>
                  <a:srgbClr val="7D79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47714" y="4317356"/>
            <a:ext cx="9258313" cy="9525"/>
          </a:xfrm>
          <a:prstGeom prst="rect">
            <a:avLst/>
          </a:prstGeom>
          <a:solidFill>
            <a:srgbClr val="D7D3D3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200104" y="3709303"/>
            <a:ext cx="2533707" cy="436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279"/>
              </a:lnSpc>
              <a:buNone/>
            </a:pPr>
            <a:r>
              <a:rPr lang="en-US" sz="202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22°C</a:t>
            </a:r>
            <a:endParaRPr lang="en-US" sz="2025" dirty="0"/>
          </a:p>
        </p:txBody>
      </p:sp>
      <p:sp>
        <p:nvSpPr>
          <p:cNvPr id="18" name="Text 16"/>
          <p:cNvSpPr/>
          <p:nvPr/>
        </p:nvSpPr>
        <p:spPr>
          <a:xfrm>
            <a:off x="3693906" y="3709303"/>
            <a:ext cx="1046096" cy="436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279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722.4</a:t>
            </a:r>
            <a:endParaRPr lang="en-US" sz="2025" dirty="0"/>
          </a:p>
        </p:txBody>
      </p:sp>
      <p:sp>
        <p:nvSpPr>
          <p:cNvPr id="19" name="Text 17"/>
          <p:cNvSpPr/>
          <p:nvPr/>
        </p:nvSpPr>
        <p:spPr>
          <a:xfrm>
            <a:off x="4854233" y="3709303"/>
            <a:ext cx="1167314" cy="436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279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6,502</a:t>
            </a:r>
            <a:endParaRPr lang="en-US" sz="2025" dirty="0"/>
          </a:p>
        </p:txBody>
      </p:sp>
      <p:sp>
        <p:nvSpPr>
          <p:cNvPr id="20" name="Text 18"/>
          <p:cNvSpPr/>
          <p:nvPr/>
        </p:nvSpPr>
        <p:spPr>
          <a:xfrm>
            <a:off x="6135778" y="3709303"/>
            <a:ext cx="1333565" cy="436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279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512.9</a:t>
            </a:r>
            <a:endParaRPr lang="en-US" sz="2025" dirty="0"/>
          </a:p>
        </p:txBody>
      </p:sp>
      <p:sp>
        <p:nvSpPr>
          <p:cNvPr id="21" name="Text 19"/>
          <p:cNvSpPr/>
          <p:nvPr/>
        </p:nvSpPr>
        <p:spPr>
          <a:xfrm>
            <a:off x="7538542" y="3709303"/>
            <a:ext cx="1466905" cy="436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279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16,328</a:t>
            </a:r>
            <a:endParaRPr lang="en-US" sz="2025" dirty="0"/>
          </a:p>
        </p:txBody>
      </p:sp>
      <p:sp>
        <p:nvSpPr>
          <p:cNvPr id="22" name="Text 20"/>
          <p:cNvSpPr/>
          <p:nvPr/>
        </p:nvSpPr>
        <p:spPr>
          <a:xfrm>
            <a:off x="9062523" y="3709303"/>
            <a:ext cx="1167314" cy="436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279"/>
              </a:lnSpc>
              <a:buNone/>
            </a:pPr>
            <a:r>
              <a:rPr lang="en-US" sz="2025" dirty="0">
                <a:solidFill>
                  <a:srgbClr val="9B9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025" dirty="0"/>
          </a:p>
        </p:txBody>
      </p:sp>
      <p:sp>
        <p:nvSpPr>
          <p:cNvPr id="23" name="Shape 21"/>
          <p:cNvSpPr/>
          <p:nvPr/>
        </p:nvSpPr>
        <p:spPr>
          <a:xfrm>
            <a:off x="1047714" y="5139767"/>
            <a:ext cx="9258313" cy="9525"/>
          </a:xfrm>
          <a:prstGeom prst="rect">
            <a:avLst/>
          </a:prstGeom>
          <a:solidFill>
            <a:srgbClr val="D7D3D3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200104" y="4531714"/>
            <a:ext cx="2533707" cy="436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279"/>
              </a:lnSpc>
              <a:buNone/>
            </a:pPr>
            <a:r>
              <a:rPr lang="en-US" sz="202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Reactive 24°C</a:t>
            </a:r>
            <a:endParaRPr lang="en-US" sz="2025" dirty="0"/>
          </a:p>
        </p:txBody>
      </p:sp>
      <p:sp>
        <p:nvSpPr>
          <p:cNvPr id="25" name="Text 23"/>
          <p:cNvSpPr/>
          <p:nvPr/>
        </p:nvSpPr>
        <p:spPr>
          <a:xfrm>
            <a:off x="3693906" y="4531714"/>
            <a:ext cx="1046096" cy="436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279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493.4</a:t>
            </a:r>
            <a:endParaRPr lang="en-US" sz="2025" dirty="0"/>
          </a:p>
        </p:txBody>
      </p:sp>
      <p:sp>
        <p:nvSpPr>
          <p:cNvPr id="26" name="Text 24"/>
          <p:cNvSpPr/>
          <p:nvPr/>
        </p:nvSpPr>
        <p:spPr>
          <a:xfrm>
            <a:off x="4854233" y="4531714"/>
            <a:ext cx="1167314" cy="436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279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4,441</a:t>
            </a:r>
            <a:endParaRPr lang="en-US" sz="2025" dirty="0"/>
          </a:p>
        </p:txBody>
      </p:sp>
      <p:sp>
        <p:nvSpPr>
          <p:cNvPr id="27" name="Text 25"/>
          <p:cNvSpPr/>
          <p:nvPr/>
        </p:nvSpPr>
        <p:spPr>
          <a:xfrm>
            <a:off x="6135778" y="4531714"/>
            <a:ext cx="1333565" cy="436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279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350.3</a:t>
            </a:r>
            <a:endParaRPr lang="en-US" sz="2025" dirty="0"/>
          </a:p>
        </p:txBody>
      </p:sp>
      <p:sp>
        <p:nvSpPr>
          <p:cNvPr id="28" name="Text 26"/>
          <p:cNvSpPr/>
          <p:nvPr/>
        </p:nvSpPr>
        <p:spPr>
          <a:xfrm>
            <a:off x="7538542" y="4531714"/>
            <a:ext cx="1466905" cy="436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27"/>
              </a:lnSpc>
              <a:buNone/>
            </a:pPr>
            <a:r>
              <a:rPr lang="en-US" sz="2025" b="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429</a:t>
            </a:r>
            <a:endParaRPr lang="en-US" sz="2025" dirty="0"/>
          </a:p>
        </p:txBody>
      </p:sp>
      <p:sp>
        <p:nvSpPr>
          <p:cNvPr id="29" name="Text 27"/>
          <p:cNvSpPr/>
          <p:nvPr/>
        </p:nvSpPr>
        <p:spPr>
          <a:xfrm>
            <a:off x="9062523" y="4531714"/>
            <a:ext cx="1167314" cy="436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279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31.7%</a:t>
            </a:r>
            <a:endParaRPr lang="en-US" sz="2025" dirty="0"/>
          </a:p>
        </p:txBody>
      </p:sp>
      <p:sp>
        <p:nvSpPr>
          <p:cNvPr id="30" name="Shape 28"/>
          <p:cNvSpPr/>
          <p:nvPr/>
        </p:nvSpPr>
        <p:spPr>
          <a:xfrm>
            <a:off x="1047714" y="5144598"/>
            <a:ext cx="9258313" cy="1220936"/>
          </a:xfrm>
          <a:prstGeom prst="rect">
            <a:avLst/>
          </a:prstGeom>
          <a:solidFill>
            <a:srgbClr val="FFF2EF"/>
          </a:solidFill>
          <a:ln/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47714" y="6360703"/>
            <a:ext cx="9258313" cy="9525"/>
          </a:xfrm>
          <a:prstGeom prst="rect">
            <a:avLst/>
          </a:prstGeom>
          <a:solidFill>
            <a:srgbClr val="D7D3D3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1200104" y="5354126"/>
            <a:ext cx="1192297" cy="835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27"/>
              </a:lnSpc>
              <a:buNone/>
            </a:pPr>
            <a:r>
              <a:rPr lang="en-US" sz="202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FeelsLike · rules</a:t>
            </a:r>
            <a:endParaRPr lang="en-US" sz="2025" dirty="0"/>
          </a:p>
        </p:txBody>
      </p:sp>
      <p:sp>
        <p:nvSpPr>
          <p:cNvPr id="33" name="Shape 31"/>
          <p:cNvSpPr/>
          <p:nvPr/>
        </p:nvSpPr>
        <p:spPr>
          <a:xfrm>
            <a:off x="2449496" y="5417225"/>
            <a:ext cx="1053978" cy="332784"/>
          </a:xfrm>
          <a:prstGeom prst="rect">
            <a:avLst/>
          </a:prstGeom>
          <a:ln w="14492">
            <a:solidFill>
              <a:srgbClr val="AE1800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2540188" y="5450767"/>
            <a:ext cx="948795" cy="303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27"/>
              </a:lnSpc>
              <a:buNone/>
            </a:pPr>
            <a:r>
              <a:rPr lang="en-US" sz="1350" b="1" kern="0" spc="135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3693906" y="5354126"/>
            <a:ext cx="1046096" cy="436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27"/>
              </a:lnSpc>
              <a:buNone/>
            </a:pPr>
            <a:r>
              <a:rPr lang="en-US" sz="202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530.3</a:t>
            </a:r>
            <a:endParaRPr lang="en-US" sz="2025" dirty="0"/>
          </a:p>
        </p:txBody>
      </p:sp>
      <p:sp>
        <p:nvSpPr>
          <p:cNvPr id="36" name="Text 34"/>
          <p:cNvSpPr/>
          <p:nvPr/>
        </p:nvSpPr>
        <p:spPr>
          <a:xfrm>
            <a:off x="4854233" y="5354126"/>
            <a:ext cx="1167314" cy="436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27"/>
              </a:lnSpc>
              <a:buNone/>
            </a:pPr>
            <a:r>
              <a:rPr lang="en-US" sz="202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4,773</a:t>
            </a:r>
            <a:endParaRPr lang="en-US" sz="2025" dirty="0"/>
          </a:p>
        </p:txBody>
      </p:sp>
      <p:sp>
        <p:nvSpPr>
          <p:cNvPr id="37" name="Text 35"/>
          <p:cNvSpPr/>
          <p:nvPr/>
        </p:nvSpPr>
        <p:spPr>
          <a:xfrm>
            <a:off x="6135778" y="5354126"/>
            <a:ext cx="1333565" cy="436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27"/>
              </a:lnSpc>
              <a:buNone/>
            </a:pPr>
            <a:r>
              <a:rPr lang="en-US" sz="202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376.5</a:t>
            </a:r>
            <a:endParaRPr lang="en-US" sz="2025" dirty="0"/>
          </a:p>
        </p:txBody>
      </p:sp>
      <p:sp>
        <p:nvSpPr>
          <p:cNvPr id="38" name="Text 36"/>
          <p:cNvSpPr/>
          <p:nvPr/>
        </p:nvSpPr>
        <p:spPr>
          <a:xfrm>
            <a:off x="7538542" y="5354126"/>
            <a:ext cx="1466905" cy="436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27"/>
              </a:lnSpc>
              <a:buNone/>
            </a:pPr>
            <a:r>
              <a:rPr lang="en-US" sz="2025" b="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025" dirty="0"/>
          </a:p>
        </p:txBody>
      </p:sp>
      <p:sp>
        <p:nvSpPr>
          <p:cNvPr id="39" name="Text 37"/>
          <p:cNvSpPr/>
          <p:nvPr/>
        </p:nvSpPr>
        <p:spPr>
          <a:xfrm>
            <a:off x="9062523" y="5354126"/>
            <a:ext cx="1167314" cy="436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27"/>
              </a:lnSpc>
              <a:buNone/>
            </a:pPr>
            <a:r>
              <a:rPr lang="en-US" sz="202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26.6%</a:t>
            </a:r>
            <a:endParaRPr lang="en-US" sz="2025" dirty="0"/>
          </a:p>
        </p:txBody>
      </p:sp>
      <p:sp>
        <p:nvSpPr>
          <p:cNvPr id="40" name="Shape 38"/>
          <p:cNvSpPr/>
          <p:nvPr/>
        </p:nvSpPr>
        <p:spPr>
          <a:xfrm>
            <a:off x="1047714" y="7183115"/>
            <a:ext cx="9258313" cy="9525"/>
          </a:xfrm>
          <a:prstGeom prst="rect">
            <a:avLst/>
          </a:prstGeom>
          <a:solidFill>
            <a:srgbClr val="D7D3D3"/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1200104" y="6575061"/>
            <a:ext cx="2533707" cy="436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279"/>
              </a:lnSpc>
              <a:buNone/>
            </a:pPr>
            <a:r>
              <a:rPr lang="en-US" sz="202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FeelsLike · PPO</a:t>
            </a:r>
            <a:endParaRPr lang="en-US" sz="2025" dirty="0"/>
          </a:p>
        </p:txBody>
      </p:sp>
      <p:sp>
        <p:nvSpPr>
          <p:cNvPr id="42" name="Text 40"/>
          <p:cNvSpPr/>
          <p:nvPr/>
        </p:nvSpPr>
        <p:spPr>
          <a:xfrm>
            <a:off x="3693906" y="6575061"/>
            <a:ext cx="1046096" cy="436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279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512.7</a:t>
            </a:r>
            <a:endParaRPr lang="en-US" sz="2025" dirty="0"/>
          </a:p>
        </p:txBody>
      </p:sp>
      <p:sp>
        <p:nvSpPr>
          <p:cNvPr id="43" name="Text 41"/>
          <p:cNvSpPr/>
          <p:nvPr/>
        </p:nvSpPr>
        <p:spPr>
          <a:xfrm>
            <a:off x="4854233" y="6575061"/>
            <a:ext cx="1167314" cy="436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279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4,614</a:t>
            </a:r>
            <a:endParaRPr lang="en-US" sz="2025" dirty="0"/>
          </a:p>
        </p:txBody>
      </p:sp>
      <p:sp>
        <p:nvSpPr>
          <p:cNvPr id="44" name="Text 42"/>
          <p:cNvSpPr/>
          <p:nvPr/>
        </p:nvSpPr>
        <p:spPr>
          <a:xfrm>
            <a:off x="6135778" y="6575061"/>
            <a:ext cx="1333565" cy="436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279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364.0</a:t>
            </a:r>
            <a:endParaRPr lang="en-US" sz="2025" dirty="0"/>
          </a:p>
        </p:txBody>
      </p:sp>
      <p:sp>
        <p:nvSpPr>
          <p:cNvPr id="45" name="Text 43"/>
          <p:cNvSpPr/>
          <p:nvPr/>
        </p:nvSpPr>
        <p:spPr>
          <a:xfrm>
            <a:off x="7538542" y="6575061"/>
            <a:ext cx="1466905" cy="436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279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2025" dirty="0"/>
          </a:p>
        </p:txBody>
      </p:sp>
      <p:sp>
        <p:nvSpPr>
          <p:cNvPr id="46" name="Text 44"/>
          <p:cNvSpPr/>
          <p:nvPr/>
        </p:nvSpPr>
        <p:spPr>
          <a:xfrm>
            <a:off x="9062523" y="6575061"/>
            <a:ext cx="1167314" cy="436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279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29.0%</a:t>
            </a:r>
            <a:endParaRPr lang="en-US" sz="2025" dirty="0"/>
          </a:p>
        </p:txBody>
      </p:sp>
      <p:sp>
        <p:nvSpPr>
          <p:cNvPr id="47" name="Text 45"/>
          <p:cNvSpPr/>
          <p:nvPr/>
        </p:nvSpPr>
        <p:spPr>
          <a:xfrm>
            <a:off x="11067980" y="2997694"/>
            <a:ext cx="6789458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kern="0" spc="288" dirty="0">
                <a:solidFill>
                  <a:srgbClr val="7D79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HVAC ENERGY · KWH / 7 DAYS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11067980" y="3623786"/>
            <a:ext cx="1247245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3365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22°C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16827046" y="3599633"/>
            <a:ext cx="489368" cy="4219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366"/>
              </a:lnSpc>
              <a:buNone/>
            </a:pPr>
            <a:r>
              <a:rPr lang="en-US" sz="19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722</a:t>
            </a:r>
            <a:endParaRPr lang="en-US" sz="1950" dirty="0"/>
          </a:p>
        </p:txBody>
      </p:sp>
      <p:sp>
        <p:nvSpPr>
          <p:cNvPr id="50" name="Shape 48"/>
          <p:cNvSpPr/>
          <p:nvPr/>
        </p:nvSpPr>
        <p:spPr>
          <a:xfrm>
            <a:off x="11067980" y="4059598"/>
            <a:ext cx="6172234" cy="304781"/>
          </a:xfrm>
          <a:prstGeom prst="rect">
            <a:avLst/>
          </a:prstGeom>
          <a:solidFill>
            <a:srgbClr val="EAE7E7"/>
          </a:solidFill>
          <a:ln/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11067980" y="4059598"/>
            <a:ext cx="6172234" cy="304781"/>
          </a:xfrm>
          <a:prstGeom prst="rect">
            <a:avLst/>
          </a:prstGeom>
          <a:solidFill>
            <a:srgbClr val="9B9797"/>
          </a:solidFill>
          <a:ln/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11067980" y="4617080"/>
            <a:ext cx="1634700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65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Reactive 24°C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16827046" y="4592927"/>
            <a:ext cx="489368" cy="4219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366"/>
              </a:lnSpc>
              <a:buNone/>
            </a:pPr>
            <a:r>
              <a:rPr lang="en-US" sz="19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493</a:t>
            </a:r>
            <a:endParaRPr lang="en-US" sz="1950" dirty="0"/>
          </a:p>
        </p:txBody>
      </p:sp>
      <p:sp>
        <p:nvSpPr>
          <p:cNvPr id="54" name="Shape 52"/>
          <p:cNvSpPr/>
          <p:nvPr/>
        </p:nvSpPr>
        <p:spPr>
          <a:xfrm>
            <a:off x="11067980" y="5052892"/>
            <a:ext cx="6172234" cy="304781"/>
          </a:xfrm>
          <a:prstGeom prst="rect">
            <a:avLst/>
          </a:prstGeom>
          <a:solidFill>
            <a:srgbClr val="EAE7E7"/>
          </a:solidFill>
          <a:ln/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11067980" y="5052892"/>
            <a:ext cx="4197119" cy="304781"/>
          </a:xfrm>
          <a:prstGeom prst="rect">
            <a:avLst/>
          </a:prstGeom>
          <a:solidFill>
            <a:srgbClr val="444141"/>
          </a:solidFill>
          <a:ln/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11067980" y="5605543"/>
            <a:ext cx="1844590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FeelsLike · rules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16827046" y="5586221"/>
            <a:ext cx="489368" cy="4219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366"/>
              </a:lnSpc>
              <a:buNone/>
            </a:pPr>
            <a:r>
              <a:rPr lang="en-US" sz="1950" b="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530</a:t>
            </a:r>
            <a:endParaRPr lang="en-US" sz="1950" dirty="0"/>
          </a:p>
        </p:txBody>
      </p:sp>
      <p:sp>
        <p:nvSpPr>
          <p:cNvPr id="58" name="Shape 56"/>
          <p:cNvSpPr/>
          <p:nvPr/>
        </p:nvSpPr>
        <p:spPr>
          <a:xfrm>
            <a:off x="11067980" y="6046186"/>
            <a:ext cx="6172234" cy="304781"/>
          </a:xfrm>
          <a:prstGeom prst="rect">
            <a:avLst/>
          </a:prstGeom>
          <a:solidFill>
            <a:srgbClr val="EAE7E7"/>
          </a:solidFill>
          <a:ln/>
        </p:spPr>
        <p:txBody>
          <a:bodyPr/>
          <a:p/>
        </p:txBody>
      </p:sp>
      <p:sp>
        <p:nvSpPr>
          <p:cNvPr id="59" name="Shape 57"/>
          <p:cNvSpPr/>
          <p:nvPr/>
        </p:nvSpPr>
        <p:spPr>
          <a:xfrm>
            <a:off x="11067980" y="6046186"/>
            <a:ext cx="4505674" cy="304781"/>
          </a:xfrm>
          <a:prstGeom prst="rect">
            <a:avLst/>
          </a:prstGeom>
          <a:solidFill>
            <a:srgbClr val="EC3013"/>
          </a:solidFill>
          <a:ln/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11067980" y="6603668"/>
            <a:ext cx="1820513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65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FeelsLike · PPO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16827046" y="6579515"/>
            <a:ext cx="489368" cy="4219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366"/>
              </a:lnSpc>
              <a:buNone/>
            </a:pPr>
            <a:r>
              <a:rPr lang="en-US" sz="19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513</a:t>
            </a:r>
            <a:endParaRPr lang="en-US" sz="1950" dirty="0"/>
          </a:p>
        </p:txBody>
      </p:sp>
      <p:sp>
        <p:nvSpPr>
          <p:cNvPr id="62" name="Shape 60"/>
          <p:cNvSpPr/>
          <p:nvPr/>
        </p:nvSpPr>
        <p:spPr>
          <a:xfrm>
            <a:off x="11067980" y="7039480"/>
            <a:ext cx="6172234" cy="304781"/>
          </a:xfrm>
          <a:prstGeom prst="rect">
            <a:avLst/>
          </a:prstGeom>
          <a:solidFill>
            <a:srgbClr val="EAE7E7"/>
          </a:solidFill>
          <a:ln/>
        </p:spPr>
        <p:txBody>
          <a:bodyPr/>
          <a:p/>
        </p:txBody>
      </p:sp>
      <p:sp>
        <p:nvSpPr>
          <p:cNvPr id="63" name="Shape 61"/>
          <p:cNvSpPr/>
          <p:nvPr/>
        </p:nvSpPr>
        <p:spPr>
          <a:xfrm>
            <a:off x="11067980" y="7039480"/>
            <a:ext cx="4382267" cy="304781"/>
          </a:xfrm>
          <a:prstGeom prst="rect">
            <a:avLst/>
          </a:prstGeom>
          <a:solidFill>
            <a:srgbClr val="444141"/>
          </a:solidFill>
          <a:ln/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1047714" y="7782336"/>
            <a:ext cx="15716172" cy="462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482"/>
              </a:lnSpc>
              <a:buNone/>
            </a:pPr>
            <a:r>
              <a:rPr lang="en-US" sz="24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hard part is not saving energy. It is saving energy while keeping the comfort promise.</a:t>
            </a:r>
            <a:endParaRPr lang="en-US" sz="2475" dirty="0"/>
          </a:p>
        </p:txBody>
      </p:sp>
      <p:sp>
        <p:nvSpPr>
          <p:cNvPr id="65" name="Shape 63"/>
          <p:cNvSpPr/>
          <p:nvPr/>
        </p:nvSpPr>
        <p:spPr>
          <a:xfrm>
            <a:off x="1047714" y="9380286"/>
            <a:ext cx="16192501" cy="19021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1047714" y="9589738"/>
            <a:ext cx="3755104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65"/>
              </a:lnSpc>
              <a:buNone/>
            </a:pPr>
            <a:r>
              <a:rPr lang="en-US" sz="1800" b="1" kern="0" spc="144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FeelsLike · Team Goldilocks</a:t>
            </a:r>
            <a:endParaRPr lang="en-US" sz="1800" dirty="0"/>
          </a:p>
        </p:txBody>
      </p:sp>
      <p:sp>
        <p:nvSpPr>
          <p:cNvPr id="67" name="Text 65"/>
          <p:cNvSpPr/>
          <p:nvPr/>
        </p:nvSpPr>
        <p:spPr>
          <a:xfrm>
            <a:off x="16541135" y="9589738"/>
            <a:ext cx="775280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14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92216" y="0"/>
            <a:ext cx="9525" cy="10286931"/>
          </a:xfrm>
          <a:prstGeom prst="rect">
            <a:avLst/>
          </a:prstGeom>
          <a:solidFill>
            <a:srgbClr val="D7D3D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141549" y="0"/>
            <a:ext cx="9525" cy="10286931"/>
          </a:xfrm>
          <a:prstGeom prst="rect">
            <a:avLst/>
          </a:prstGeom>
          <a:solidFill>
            <a:srgbClr val="D7D3D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3190882" y="0"/>
            <a:ext cx="9525" cy="10286931"/>
          </a:xfrm>
          <a:prstGeom prst="rect">
            <a:avLst/>
          </a:prstGeom>
          <a:solidFill>
            <a:srgbClr val="D7D3D3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47714" y="761953"/>
            <a:ext cx="2514943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kern="0" spc="288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r>
              <a:rPr lang="en-US" sz="1800" b="1" kern="0" spc="288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PPO TRACK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756841" y="766784"/>
            <a:ext cx="1631712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65"/>
              </a:lnSpc>
              <a:buNone/>
            </a:pPr>
            <a:r>
              <a:rPr lang="en-US" sz="1800" b="1" kern="0" spc="216" dirty="0">
                <a:solidFill>
                  <a:srgbClr val="7D79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FEELSLIKE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47714" y="1330606"/>
            <a:ext cx="16192501" cy="19021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47714" y="1768682"/>
            <a:ext cx="17811751" cy="790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3863"/>
              </a:lnSpc>
              <a:buNone/>
            </a:pPr>
            <a:r>
              <a:rPr lang="en-US" sz="5700" b="1" kern="0" spc="-114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PPO wins on energy, not yet on comfort</a:t>
            </a:r>
            <a:endParaRPr lang="en-US" sz="5700" dirty="0"/>
          </a:p>
        </p:txBody>
      </p:sp>
      <p:sp>
        <p:nvSpPr>
          <p:cNvPr id="9" name="Text 7"/>
          <p:cNvSpPr/>
          <p:nvPr/>
        </p:nvSpPr>
        <p:spPr>
          <a:xfrm>
            <a:off x="1047714" y="2692913"/>
            <a:ext cx="17811751" cy="451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713"/>
              </a:lnSpc>
              <a:buNone/>
            </a:pPr>
            <a:r>
              <a:rPr lang="en-US" sz="21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2M training steps · 18-D observation · 5-D continuous action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047714" y="3544308"/>
            <a:ext cx="10896674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kern="0" spc="288" dirty="0">
                <a:solidFill>
                  <a:srgbClr val="7D79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EPISODE REWARD OVER TRAINING</a:t>
            </a:r>
            <a:endParaRPr lang="en-US" sz="18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14" y="4108130"/>
            <a:ext cx="9906067" cy="426739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47714" y="8489794"/>
            <a:ext cx="207230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65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2959200" y="8489794"/>
            <a:ext cx="594660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65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0.5M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258042" y="8489794"/>
            <a:ext cx="583263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65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1.0M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545561" y="8489794"/>
            <a:ext cx="582810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65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1.5M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9832552" y="8489794"/>
            <a:ext cx="1197429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65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2.0M steps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047714" y="8996479"/>
            <a:ext cx="10896674" cy="4219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684"/>
              </a:lnSpc>
              <a:buNone/>
            </a:pPr>
            <a:r>
              <a:rPr lang="en-US" sz="195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reward −91.8 → −86.8, still climbing at 2M steps.</a:t>
            </a:r>
            <a:endParaRPr lang="en-US" sz="1950" dirty="0"/>
          </a:p>
        </p:txBody>
      </p:sp>
      <p:sp>
        <p:nvSpPr>
          <p:cNvPr id="18" name="Text 15"/>
          <p:cNvSpPr/>
          <p:nvPr/>
        </p:nvSpPr>
        <p:spPr>
          <a:xfrm>
            <a:off x="11906242" y="3544308"/>
            <a:ext cx="5867370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kern="0" spc="288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DECISION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1906242" y="4127151"/>
            <a:ext cx="5493992" cy="915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861"/>
              </a:lnSpc>
              <a:buNone/>
            </a:pPr>
            <a:r>
              <a:rPr lang="en-US" sz="27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PPO beats rules on energy: −2.8 kWh / day.</a:t>
            </a:r>
            <a:endParaRPr lang="en-US" sz="2700" dirty="0"/>
          </a:p>
        </p:txBody>
      </p:sp>
      <p:sp>
        <p:nvSpPr>
          <p:cNvPr id="20" name="Text 17"/>
          <p:cNvSpPr/>
          <p:nvPr/>
        </p:nvSpPr>
        <p:spPr>
          <a:xfrm>
            <a:off x="11906242" y="5195395"/>
            <a:ext cx="5493992" cy="915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861"/>
              </a:lnSpc>
              <a:buNone/>
            </a:pPr>
            <a:r>
              <a:rPr lang="en-US" sz="27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it averages</a:t>
            </a:r>
            <a:r>
              <a:rPr lang="en-US" sz="2700" b="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violation minutes </a:t>
            </a:r>
            <a:r>
              <a:rPr lang="en-US" sz="27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day.</a:t>
            </a:r>
            <a:endParaRPr lang="en-US" sz="2700" dirty="0"/>
          </a:p>
        </p:txBody>
      </p:sp>
      <p:sp>
        <p:nvSpPr>
          <p:cNvPr id="21" name="Shape 18"/>
          <p:cNvSpPr/>
          <p:nvPr/>
        </p:nvSpPr>
        <p:spPr>
          <a:xfrm>
            <a:off x="11906242" y="6377988"/>
            <a:ext cx="5333973" cy="19021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11906242" y="6625557"/>
            <a:ext cx="5867370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kern="0" spc="288" dirty="0">
                <a:solidFill>
                  <a:srgbClr val="7D79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 BAR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1906242" y="7113146"/>
            <a:ext cx="5493992" cy="794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773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 on energy at equal-or-better comfort. </a:t>
            </a:r>
            <a:r>
              <a:rPr lang="en-US" sz="2100" b="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cleared yet.</a:t>
            </a:r>
            <a:endParaRPr lang="en-US" sz="2100" dirty="0"/>
          </a:p>
        </p:txBody>
      </p:sp>
      <p:sp>
        <p:nvSpPr>
          <p:cNvPr id="24" name="Shape 21"/>
          <p:cNvSpPr/>
          <p:nvPr/>
        </p:nvSpPr>
        <p:spPr>
          <a:xfrm>
            <a:off x="1047714" y="9380286"/>
            <a:ext cx="16192501" cy="19021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1047714" y="9589738"/>
            <a:ext cx="3755104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65"/>
              </a:lnSpc>
              <a:buNone/>
            </a:pPr>
            <a:r>
              <a:rPr lang="en-US" sz="1800" b="1" kern="0" spc="144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FeelsLike · Team Goldilocks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16541135" y="9589738"/>
            <a:ext cx="775280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14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92216" y="0"/>
            <a:ext cx="9525" cy="10286931"/>
          </a:xfrm>
          <a:prstGeom prst="rect">
            <a:avLst/>
          </a:prstGeom>
          <a:solidFill>
            <a:srgbClr val="D7D3D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141549" y="0"/>
            <a:ext cx="9525" cy="10286931"/>
          </a:xfrm>
          <a:prstGeom prst="rect">
            <a:avLst/>
          </a:prstGeom>
          <a:solidFill>
            <a:srgbClr val="D7D3D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3190882" y="0"/>
            <a:ext cx="9525" cy="10286931"/>
          </a:xfrm>
          <a:prstGeom prst="rect">
            <a:avLst/>
          </a:prstGeom>
          <a:solidFill>
            <a:srgbClr val="D7D3D3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47714" y="761953"/>
            <a:ext cx="3388460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kern="0" spc="288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r>
              <a:rPr lang="en-US" sz="1800" b="1" kern="0" spc="288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NLP BENCHMARK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756841" y="766784"/>
            <a:ext cx="1631712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65"/>
              </a:lnSpc>
              <a:buNone/>
            </a:pPr>
            <a:r>
              <a:rPr lang="en-US" sz="1800" b="1" kern="0" spc="216" dirty="0">
                <a:solidFill>
                  <a:srgbClr val="7D79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FEELSLIKE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47714" y="1330606"/>
            <a:ext cx="16192501" cy="19021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47714" y="1768682"/>
            <a:ext cx="17811751" cy="790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3863"/>
              </a:lnSpc>
              <a:buNone/>
            </a:pPr>
            <a:r>
              <a:rPr lang="en-US" sz="5700" b="1" kern="0" spc="-114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blind probe is the honest number</a:t>
            </a:r>
            <a:endParaRPr lang="en-US" sz="5700" dirty="0"/>
          </a:p>
        </p:txBody>
      </p:sp>
      <p:sp>
        <p:nvSpPr>
          <p:cNvPr id="9" name="Text 7"/>
          <p:cNvSpPr/>
          <p:nvPr/>
        </p:nvSpPr>
        <p:spPr>
          <a:xfrm>
            <a:off x="1047714" y="2997694"/>
            <a:ext cx="1056738" cy="14554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889"/>
              </a:lnSpc>
              <a:buNone/>
            </a:pPr>
            <a:r>
              <a:rPr lang="en-US" sz="7200" b="1" kern="0" spc="-144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2218683" y="3707794"/>
            <a:ext cx="1906611" cy="481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82"/>
              </a:lnSpc>
              <a:buNone/>
            </a:pPr>
            <a:r>
              <a:rPr lang="en-US" sz="225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labeled cases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047714" y="4510203"/>
            <a:ext cx="5448255" cy="4219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684"/>
              </a:lnSpc>
              <a:buNone/>
            </a:pPr>
            <a:r>
              <a:rPr lang="en-US" sz="195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dev · 40 held-out · 20 blind probe, never tuned on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047714" y="5332086"/>
            <a:ext cx="114274" cy="114274"/>
          </a:xfrm>
          <a:prstGeom prst="rect">
            <a:avLst/>
          </a:prstGeom>
          <a:solidFill>
            <a:srgbClr val="EC3013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352419" y="5236908"/>
            <a:ext cx="4787700" cy="7847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773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Covers typos, sarcasm, Hinglish, retractions and negatives.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047714" y="6288244"/>
            <a:ext cx="114274" cy="114274"/>
          </a:xfrm>
          <a:prstGeom prst="rect">
            <a:avLst/>
          </a:prstGeom>
          <a:solidFill>
            <a:srgbClr val="EC3013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352419" y="6193066"/>
            <a:ext cx="4787700" cy="7847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773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triple on unseen phrasings: 45% (tuned split reads higher).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047714" y="9022217"/>
            <a:ext cx="209528" cy="209528"/>
          </a:xfrm>
          <a:prstGeom prst="rect">
            <a:avLst/>
          </a:prstGeom>
          <a:solidFill>
            <a:srgbClr val="444141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390536" y="8949834"/>
            <a:ext cx="680630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65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375905" y="9022217"/>
            <a:ext cx="209528" cy="209528"/>
          </a:xfrm>
          <a:prstGeom prst="rect">
            <a:avLst/>
          </a:prstGeom>
          <a:solidFill>
            <a:srgbClr val="EC3013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2718727" y="8949834"/>
            <a:ext cx="1231244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3365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· Groq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434676" y="2997694"/>
            <a:ext cx="4186092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65"/>
              </a:lnSpc>
              <a:buNone/>
            </a:pPr>
            <a:r>
              <a:rPr lang="en-US" sz="1800" dirty="0">
                <a:solidFill>
                  <a:srgbClr val="7D79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on 20 unseen cases — never used for tuning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953132" y="8821068"/>
            <a:ext cx="10287083" cy="14492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953132" y="3447167"/>
            <a:ext cx="10287083" cy="14492"/>
          </a:xfrm>
          <a:prstGeom prst="rect">
            <a:avLst/>
          </a:prstGeom>
          <a:solidFill>
            <a:srgbClr val="BAB6B6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143564" y="3554150"/>
            <a:ext cx="971599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143564" y="3984603"/>
            <a:ext cx="895399" cy="4836465"/>
          </a:xfrm>
          <a:prstGeom prst="rect">
            <a:avLst/>
          </a:prstGeom>
          <a:solidFill>
            <a:srgbClr val="444141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153237" y="3554150"/>
            <a:ext cx="971599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153237" y="3984603"/>
            <a:ext cx="895399" cy="4836465"/>
          </a:xfrm>
          <a:prstGeom prst="rect">
            <a:avLst/>
          </a:prstGeom>
          <a:solidFill>
            <a:srgbClr val="EC3013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9810588" y="4897612"/>
            <a:ext cx="971599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810588" y="5328065"/>
            <a:ext cx="895399" cy="3493003"/>
          </a:xfrm>
          <a:prstGeom prst="rect">
            <a:avLst/>
          </a:prstGeom>
          <a:solidFill>
            <a:srgbClr val="444141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0820260" y="4360227"/>
            <a:ext cx="971674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0820260" y="4790680"/>
            <a:ext cx="895474" cy="4030388"/>
          </a:xfrm>
          <a:prstGeom prst="rect">
            <a:avLst/>
          </a:prstGeom>
          <a:solidFill>
            <a:srgbClr val="EC3013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2477687" y="5166305"/>
            <a:ext cx="971599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2477687" y="5596758"/>
            <a:ext cx="895399" cy="3224310"/>
          </a:xfrm>
          <a:prstGeom prst="rect">
            <a:avLst/>
          </a:prstGeom>
          <a:solidFill>
            <a:srgbClr val="444141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13487360" y="4628920"/>
            <a:ext cx="971599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3487360" y="5059373"/>
            <a:ext cx="895399" cy="3761695"/>
          </a:xfrm>
          <a:prstGeom prst="rect">
            <a:avLst/>
          </a:prstGeom>
          <a:solidFill>
            <a:srgbClr val="EC3013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15144712" y="5972382"/>
            <a:ext cx="971599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5144712" y="6402835"/>
            <a:ext cx="895399" cy="2418233"/>
          </a:xfrm>
          <a:prstGeom prst="rect">
            <a:avLst/>
          </a:prstGeom>
          <a:solidFill>
            <a:srgbClr val="444141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16154384" y="5434997"/>
            <a:ext cx="971599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6154384" y="5865450"/>
            <a:ext cx="895399" cy="2955618"/>
          </a:xfrm>
          <a:prstGeom prst="rect">
            <a:avLst/>
          </a:prstGeom>
          <a:solidFill>
            <a:srgbClr val="EC3013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7143564" y="8968854"/>
            <a:ext cx="2095578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65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9810588" y="8968854"/>
            <a:ext cx="2095661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65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2477687" y="8968854"/>
            <a:ext cx="2095578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65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5144712" y="8968854"/>
            <a:ext cx="2095578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65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triple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1047714" y="9380286"/>
            <a:ext cx="16192501" cy="19021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1047714" y="9589738"/>
            <a:ext cx="3755104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65"/>
              </a:lnSpc>
              <a:buNone/>
            </a:pPr>
            <a:r>
              <a:rPr lang="en-US" sz="1800" b="1" kern="0" spc="144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FeelsLike · Team Goldilocks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6541135" y="9589738"/>
            <a:ext cx="775280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14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92216" y="0"/>
            <a:ext cx="9525" cy="10286931"/>
          </a:xfrm>
          <a:prstGeom prst="rect">
            <a:avLst/>
          </a:prstGeom>
          <a:solidFill>
            <a:srgbClr val="D7D3D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141549" y="0"/>
            <a:ext cx="9525" cy="10286931"/>
          </a:xfrm>
          <a:prstGeom prst="rect">
            <a:avLst/>
          </a:prstGeom>
          <a:solidFill>
            <a:srgbClr val="D7D3D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3190882" y="0"/>
            <a:ext cx="9525" cy="10286931"/>
          </a:xfrm>
          <a:prstGeom prst="rect">
            <a:avLst/>
          </a:prstGeom>
          <a:solidFill>
            <a:srgbClr val="D7D3D3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47714" y="761953"/>
            <a:ext cx="2795820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kern="0" spc="288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r>
              <a:rPr lang="en-US" sz="1800" b="1" kern="0" spc="288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LIVE SYSTEM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756841" y="766784"/>
            <a:ext cx="1631712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65"/>
              </a:lnSpc>
              <a:buNone/>
            </a:pPr>
            <a:r>
              <a:rPr lang="en-US" sz="1800" b="1" kern="0" spc="216" dirty="0">
                <a:solidFill>
                  <a:srgbClr val="7D79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FEELSLIKE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47714" y="1330606"/>
            <a:ext cx="16192501" cy="19021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47714" y="1768682"/>
            <a:ext cx="17811751" cy="790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3863"/>
              </a:lnSpc>
              <a:buNone/>
            </a:pPr>
            <a:r>
              <a:rPr lang="en-US" sz="5700" b="1" kern="0" spc="-114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demo is built to survive failure</a:t>
            </a:r>
            <a:endParaRPr lang="en-US" sz="5700" dirty="0"/>
          </a:p>
        </p:txBody>
      </p:sp>
      <p:sp>
        <p:nvSpPr>
          <p:cNvPr id="9" name="Text 7"/>
          <p:cNvSpPr/>
          <p:nvPr/>
        </p:nvSpPr>
        <p:spPr>
          <a:xfrm>
            <a:off x="1047714" y="2692913"/>
            <a:ext cx="17811751" cy="451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713"/>
              </a:lnSpc>
              <a:buNone/>
            </a:pPr>
            <a:r>
              <a:rPr lang="en-US" sz="21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synchronized views over the same twin — the rules fallback keeps it alive if the LLM stalls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047714" y="3601520"/>
            <a:ext cx="4953034" cy="14492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47714" y="3844560"/>
            <a:ext cx="5448337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kern="0" spc="288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47714" y="4332150"/>
            <a:ext cx="5448337" cy="510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889"/>
              </a:lnSpc>
              <a:buNone/>
            </a:pPr>
            <a:r>
              <a:rPr lang="en-US" sz="24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Paired energy bars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047714" y="4899671"/>
            <a:ext cx="5101625" cy="731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650"/>
              </a:lnSpc>
              <a:buNone/>
            </a:pPr>
            <a:r>
              <a:rPr lang="en-US" sz="195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vs FeelsLike, with a live saved-% counter.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6667447" y="3601520"/>
            <a:ext cx="4953034" cy="14492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667447" y="3844560"/>
            <a:ext cx="5448337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kern="0" spc="288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FLOOR PLAN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667447" y="4332150"/>
            <a:ext cx="5448337" cy="510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889"/>
              </a:lnSpc>
              <a:buNone/>
            </a:pPr>
            <a:r>
              <a:rPr lang="en-US" sz="24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zones, live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667447" y="4899671"/>
            <a:ext cx="5101625" cy="731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650"/>
              </a:lnSpc>
              <a:buNone/>
            </a:pPr>
            <a:r>
              <a:rPr lang="en-US" sz="195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Temperature, occupancy, setpoints and active constraints.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2287180" y="3601520"/>
            <a:ext cx="4953034" cy="14492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2287180" y="3844560"/>
            <a:ext cx="5448337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kern="0" spc="288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OCCUPANT CHANNEL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287180" y="4332150"/>
            <a:ext cx="5448337" cy="510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889"/>
              </a:lnSpc>
              <a:buNone/>
            </a:pPr>
            <a:r>
              <a:rPr lang="en-US" sz="24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with receipts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2287180" y="4899671"/>
            <a:ext cx="5101625" cy="731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650"/>
              </a:lnSpc>
              <a:buNone/>
            </a:pPr>
            <a:r>
              <a:rPr lang="en-US" sz="195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source, latency and an explanation for every action.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47714" y="6202577"/>
            <a:ext cx="17811751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kern="0" spc="288" dirty="0">
                <a:solidFill>
                  <a:srgbClr val="7D79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3-MINUTE STORY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047714" y="6747303"/>
            <a:ext cx="2730426" cy="14492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047714" y="6914186"/>
            <a:ext cx="2793993" cy="481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468"/>
              </a:lnSpc>
              <a:buNone/>
            </a:pPr>
            <a:r>
              <a:rPr lang="en-US" sz="225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0:00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047714" y="7414229"/>
            <a:ext cx="2793993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65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3778139" y="6747303"/>
            <a:ext cx="2730501" cy="14492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3778139" y="6914186"/>
            <a:ext cx="2794077" cy="481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468"/>
              </a:lnSpc>
              <a:buNone/>
            </a:pPr>
            <a:r>
              <a:rPr lang="en-US" sz="225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0:20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3778139" y="7414229"/>
            <a:ext cx="2794077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65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complaint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508641" y="6747303"/>
            <a:ext cx="2730501" cy="14492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508641" y="6914186"/>
            <a:ext cx="2794077" cy="481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468"/>
              </a:lnSpc>
              <a:buNone/>
            </a:pPr>
            <a:r>
              <a:rPr lang="en-US" sz="225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1:00</a:t>
            </a:r>
            <a:endParaRPr lang="en-US" sz="2250" dirty="0"/>
          </a:p>
        </p:txBody>
      </p:sp>
      <p:sp>
        <p:nvSpPr>
          <p:cNvPr id="31" name="Text 29"/>
          <p:cNvSpPr/>
          <p:nvPr/>
        </p:nvSpPr>
        <p:spPr>
          <a:xfrm>
            <a:off x="6508641" y="7414229"/>
            <a:ext cx="2794077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65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239142" y="6747303"/>
            <a:ext cx="2730501" cy="14492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9239142" y="6914186"/>
            <a:ext cx="2794077" cy="481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468"/>
              </a:lnSpc>
              <a:buNone/>
            </a:pPr>
            <a:r>
              <a:rPr lang="en-US" sz="225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1:30</a:t>
            </a:r>
            <a:endParaRPr lang="en-US" sz="2250" dirty="0"/>
          </a:p>
        </p:txBody>
      </p:sp>
      <p:sp>
        <p:nvSpPr>
          <p:cNvPr id="34" name="Text 32"/>
          <p:cNvSpPr/>
          <p:nvPr/>
        </p:nvSpPr>
        <p:spPr>
          <a:xfrm>
            <a:off x="9239142" y="7414229"/>
            <a:ext cx="2794077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65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race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1969644" y="6747303"/>
            <a:ext cx="2730501" cy="14492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11969644" y="6914186"/>
            <a:ext cx="2794077" cy="481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468"/>
              </a:lnSpc>
              <a:buNone/>
            </a:pPr>
            <a:r>
              <a:rPr lang="en-US" sz="225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2:20</a:t>
            </a:r>
            <a:endParaRPr lang="en-US" sz="2250" dirty="0"/>
          </a:p>
        </p:txBody>
      </p:sp>
      <p:sp>
        <p:nvSpPr>
          <p:cNvPr id="37" name="Text 35"/>
          <p:cNvSpPr/>
          <p:nvPr/>
        </p:nvSpPr>
        <p:spPr>
          <a:xfrm>
            <a:off x="11969644" y="7414229"/>
            <a:ext cx="2794077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65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 and carbon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4700145" y="6747303"/>
            <a:ext cx="2540070" cy="14492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14700145" y="6914186"/>
            <a:ext cx="2794077" cy="481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468"/>
              </a:lnSpc>
              <a:buNone/>
            </a:pPr>
            <a:r>
              <a:rPr lang="en-US" sz="225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2:45</a:t>
            </a:r>
            <a:endParaRPr lang="en-US" sz="2250" dirty="0"/>
          </a:p>
        </p:txBody>
      </p:sp>
      <p:sp>
        <p:nvSpPr>
          <p:cNvPr id="40" name="Text 38"/>
          <p:cNvSpPr/>
          <p:nvPr/>
        </p:nvSpPr>
        <p:spPr>
          <a:xfrm>
            <a:off x="14700145" y="7414229"/>
            <a:ext cx="2794077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65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closing line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1047714" y="9380286"/>
            <a:ext cx="16192501" cy="19021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1047714" y="9589738"/>
            <a:ext cx="3755104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65"/>
              </a:lnSpc>
              <a:buNone/>
            </a:pPr>
            <a:r>
              <a:rPr lang="en-US" sz="1800" b="1" kern="0" spc="144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FeelsLike · Team Goldilocks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6558117" y="9589738"/>
            <a:ext cx="758297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14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1290" y="-191367"/>
            <a:ext cx="9525" cy="10286931"/>
          </a:xfrm>
          <a:prstGeom prst="rect">
            <a:avLst/>
          </a:prstGeom>
          <a:solidFill>
            <a:srgbClr val="D7D3D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810623" y="-191367"/>
            <a:ext cx="9525" cy="10286931"/>
          </a:xfrm>
          <a:prstGeom prst="rect">
            <a:avLst/>
          </a:prstGeom>
          <a:solidFill>
            <a:srgbClr val="D7D3D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2859956" y="-191367"/>
            <a:ext cx="9525" cy="10286931"/>
          </a:xfrm>
          <a:prstGeom prst="rect">
            <a:avLst/>
          </a:prstGeom>
          <a:solidFill>
            <a:srgbClr val="D7D3D3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16788" y="291911"/>
            <a:ext cx="1711500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kern="0" spc="288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r>
              <a:rPr lang="en-US" sz="1800" b="1" kern="0" spc="288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SCALE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425915" y="296742"/>
            <a:ext cx="1631712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65"/>
              </a:lnSpc>
              <a:buNone/>
            </a:pPr>
            <a:r>
              <a:rPr lang="en-US" sz="1800" b="1" kern="0" spc="216" dirty="0">
                <a:solidFill>
                  <a:srgbClr val="7D79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FEELSLIKE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16788" y="1558294"/>
            <a:ext cx="17811751" cy="790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3863"/>
              </a:lnSpc>
              <a:buNone/>
            </a:pPr>
            <a:r>
              <a:rPr lang="en-US" sz="5700" b="1" kern="0" spc="-114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mechanism scales with floor area</a:t>
            </a:r>
            <a:endParaRPr lang="en-US" sz="5700" dirty="0"/>
          </a:p>
        </p:txBody>
      </p:sp>
      <p:sp>
        <p:nvSpPr>
          <p:cNvPr id="8" name="Text 6"/>
          <p:cNvSpPr/>
          <p:nvPr/>
        </p:nvSpPr>
        <p:spPr>
          <a:xfrm>
            <a:off x="716788" y="2203851"/>
            <a:ext cx="12753907" cy="864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3713"/>
              </a:lnSpc>
              <a:buNone/>
            </a:pPr>
            <a:r>
              <a:rPr lang="en-US" sz="21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simulated building is ~520 m². The approach needs no new hardware — the feedback loop is the retrofit.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716788" y="3506681"/>
            <a:ext cx="1819781" cy="506610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69188" y="3582881"/>
            <a:ext cx="1591181" cy="3923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kern="0" spc="216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765116" y="3587669"/>
            <a:ext cx="3001725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65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simulated days · ~520 m²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16788" y="4203722"/>
            <a:ext cx="4953034" cy="14492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16788" y="4408646"/>
            <a:ext cx="5448337" cy="1041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383"/>
              </a:lnSpc>
              <a:buNone/>
            </a:pPr>
            <a:r>
              <a:rPr lang="en-US" sz="5100" b="1" kern="0" spc="-102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 kWh</a:t>
            </a:r>
            <a:endParaRPr lang="en-US" sz="5100" dirty="0"/>
          </a:p>
        </p:txBody>
      </p:sp>
      <p:sp>
        <p:nvSpPr>
          <p:cNvPr id="14" name="Text 12"/>
          <p:cNvSpPr/>
          <p:nvPr/>
        </p:nvSpPr>
        <p:spPr>
          <a:xfrm>
            <a:off x="716788" y="5488664"/>
            <a:ext cx="5448337" cy="4219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684"/>
              </a:lnSpc>
              <a:buNone/>
            </a:pPr>
            <a:r>
              <a:rPr lang="en-US" sz="195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saved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6336521" y="4203722"/>
            <a:ext cx="4953034" cy="14492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336521" y="4408646"/>
            <a:ext cx="5448337" cy="1041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383"/>
              </a:lnSpc>
              <a:buNone/>
            </a:pPr>
            <a:r>
              <a:rPr lang="en-US" sz="5100" b="1" kern="0" spc="-102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₹1,729</a:t>
            </a:r>
            <a:endParaRPr lang="en-US" sz="5100" dirty="0"/>
          </a:p>
        </p:txBody>
      </p:sp>
      <p:sp>
        <p:nvSpPr>
          <p:cNvPr id="17" name="Text 15"/>
          <p:cNvSpPr/>
          <p:nvPr/>
        </p:nvSpPr>
        <p:spPr>
          <a:xfrm>
            <a:off x="6336521" y="5488664"/>
            <a:ext cx="5448337" cy="4219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684"/>
              </a:lnSpc>
              <a:buNone/>
            </a:pPr>
            <a:r>
              <a:rPr lang="en-US" sz="195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saved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1956254" y="4203722"/>
            <a:ext cx="4953034" cy="14492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1956254" y="4408646"/>
            <a:ext cx="5448337" cy="1041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383"/>
              </a:lnSpc>
              <a:buNone/>
            </a:pPr>
            <a:r>
              <a:rPr lang="en-US" sz="5100" b="1" kern="0" spc="-102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136 kg</a:t>
            </a:r>
            <a:endParaRPr lang="en-US" sz="5100" dirty="0"/>
          </a:p>
        </p:txBody>
      </p:sp>
      <p:sp>
        <p:nvSpPr>
          <p:cNvPr id="20" name="Text 18"/>
          <p:cNvSpPr/>
          <p:nvPr/>
        </p:nvSpPr>
        <p:spPr>
          <a:xfrm>
            <a:off x="11956254" y="5488664"/>
            <a:ext cx="5448337" cy="4219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684"/>
              </a:lnSpc>
              <a:buNone/>
            </a:pPr>
            <a:r>
              <a:rPr lang="en-US" sz="195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CO₂ avoided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716788" y="6386780"/>
            <a:ext cx="2208343" cy="497553"/>
          </a:xfrm>
          <a:prstGeom prst="rect">
            <a:avLst/>
          </a:prstGeom>
          <a:ln w="14492">
            <a:solidFill>
              <a:srgbClr val="201E1D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64629" y="6458422"/>
            <a:ext cx="1988859" cy="3923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kern="0" spc="21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153678" y="6463239"/>
            <a:ext cx="2733218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65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· 10,000 m² office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16788" y="7074764"/>
            <a:ext cx="4953034" cy="14492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16788" y="7279688"/>
            <a:ext cx="5448337" cy="1041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383"/>
              </a:lnSpc>
              <a:buNone/>
            </a:pPr>
            <a:r>
              <a:rPr lang="en-US" sz="5100" b="1" kern="0" spc="-102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~192 MWh</a:t>
            </a:r>
            <a:endParaRPr lang="en-US" sz="5100" dirty="0"/>
          </a:p>
        </p:txBody>
      </p:sp>
      <p:sp>
        <p:nvSpPr>
          <p:cNvPr id="26" name="Text 24"/>
          <p:cNvSpPr/>
          <p:nvPr/>
        </p:nvSpPr>
        <p:spPr>
          <a:xfrm>
            <a:off x="716788" y="8359706"/>
            <a:ext cx="5448337" cy="4219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684"/>
              </a:lnSpc>
              <a:buNone/>
            </a:pPr>
            <a:r>
              <a:rPr lang="en-US" sz="195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saved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6336521" y="7074764"/>
            <a:ext cx="4953034" cy="14492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336521" y="7279688"/>
            <a:ext cx="5448337" cy="1041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383"/>
              </a:lnSpc>
              <a:buNone/>
            </a:pPr>
            <a:r>
              <a:rPr lang="en-US" sz="5100" b="1" kern="0" spc="-102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~₹18–22 lakh</a:t>
            </a:r>
            <a:endParaRPr lang="en-US" sz="5100" dirty="0"/>
          </a:p>
        </p:txBody>
      </p:sp>
      <p:sp>
        <p:nvSpPr>
          <p:cNvPr id="29" name="Text 27"/>
          <p:cNvSpPr/>
          <p:nvPr/>
        </p:nvSpPr>
        <p:spPr>
          <a:xfrm>
            <a:off x="6336521" y="8359706"/>
            <a:ext cx="5448337" cy="4219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684"/>
              </a:lnSpc>
              <a:buNone/>
            </a:pPr>
            <a:r>
              <a:rPr lang="en-US" sz="195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saved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11956254" y="7074764"/>
            <a:ext cx="4953034" cy="14492"/>
          </a:xfrm>
          <a:prstGeom prst="rect">
            <a:avLst/>
          </a:prstGeom>
          <a:solidFill>
            <a:srgbClr val="201E1D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1956254" y="7279688"/>
            <a:ext cx="5448337" cy="1041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383"/>
              </a:lnSpc>
              <a:buNone/>
            </a:pPr>
            <a:r>
              <a:rPr lang="en-US" sz="5100" b="1" kern="0" spc="-102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~160 t</a:t>
            </a:r>
            <a:endParaRPr lang="en-US" sz="5100" dirty="0"/>
          </a:p>
        </p:txBody>
      </p:sp>
      <p:sp>
        <p:nvSpPr>
          <p:cNvPr id="32" name="Text 30"/>
          <p:cNvSpPr/>
          <p:nvPr/>
        </p:nvSpPr>
        <p:spPr>
          <a:xfrm>
            <a:off x="11956254" y="8359706"/>
            <a:ext cx="5448337" cy="4219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684"/>
              </a:lnSpc>
              <a:buNone/>
            </a:pPr>
            <a:r>
              <a:rPr lang="en-US" sz="195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CO₂ avoided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716788" y="9345990"/>
            <a:ext cx="17811751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65"/>
              </a:lnSpc>
              <a:buNone/>
            </a:pPr>
            <a:r>
              <a:rPr lang="en-US" sz="1800" dirty="0">
                <a:solidFill>
                  <a:srgbClr val="7D79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Extrapolation assumes a similar climate and occupancy and the same 26.6% saving rate.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716788" y="9421610"/>
            <a:ext cx="16192501" cy="19021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716788" y="9631061"/>
            <a:ext cx="3755104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65"/>
              </a:lnSpc>
              <a:buNone/>
            </a:pPr>
            <a:r>
              <a:rPr lang="en-US" sz="1800" b="1" kern="0" spc="144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FeelsLike · Team Goldilocks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6210209" y="9631061"/>
            <a:ext cx="775280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14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92216" y="0"/>
            <a:ext cx="9525" cy="10286931"/>
          </a:xfrm>
          <a:prstGeom prst="rect">
            <a:avLst/>
          </a:prstGeom>
          <a:solidFill>
            <a:srgbClr val="D7D3D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141549" y="0"/>
            <a:ext cx="9525" cy="10286931"/>
          </a:xfrm>
          <a:prstGeom prst="rect">
            <a:avLst/>
          </a:prstGeom>
          <a:solidFill>
            <a:srgbClr val="D7D3D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3190882" y="0"/>
            <a:ext cx="9525" cy="10286931"/>
          </a:xfrm>
          <a:prstGeom prst="rect">
            <a:avLst/>
          </a:prstGeom>
          <a:solidFill>
            <a:srgbClr val="D7D3D3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47714" y="761953"/>
            <a:ext cx="3701220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kern="0" spc="288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r>
              <a:rPr lang="en-US" sz="1800" b="1" kern="0" spc="288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PRODUCTION PATH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756841" y="766784"/>
            <a:ext cx="1631712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65"/>
              </a:lnSpc>
              <a:buNone/>
            </a:pPr>
            <a:r>
              <a:rPr lang="en-US" sz="1800" b="1" kern="0" spc="216" dirty="0">
                <a:solidFill>
                  <a:srgbClr val="7D79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FEELSLIKE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47714" y="1330606"/>
            <a:ext cx="16192501" cy="19021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47714" y="1768682"/>
            <a:ext cx="17811751" cy="790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3863"/>
              </a:lnSpc>
              <a:buNone/>
            </a:pPr>
            <a:r>
              <a:rPr lang="en-US" sz="5700" b="1" kern="0" spc="-114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define the production path</a:t>
            </a:r>
            <a:endParaRPr lang="en-US" sz="5700" dirty="0"/>
          </a:p>
        </p:txBody>
      </p:sp>
      <p:sp>
        <p:nvSpPr>
          <p:cNvPr id="9" name="Text 7"/>
          <p:cNvSpPr/>
          <p:nvPr/>
        </p:nvSpPr>
        <p:spPr>
          <a:xfrm>
            <a:off x="1047714" y="3054831"/>
            <a:ext cx="8059757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kern="0" spc="288" dirty="0">
                <a:solidFill>
                  <a:srgbClr val="7D79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LIMITATIONS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47714" y="3799575"/>
            <a:ext cx="114274" cy="114274"/>
          </a:xfrm>
          <a:prstGeom prst="rect">
            <a:avLst/>
          </a:prstGeom>
          <a:solidFill>
            <a:srgbClr val="9B9797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352419" y="3694811"/>
            <a:ext cx="7233016" cy="795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49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only — real buildings bring undersized units and surprises.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047714" y="4842458"/>
            <a:ext cx="114274" cy="114274"/>
          </a:xfrm>
          <a:prstGeom prst="rect">
            <a:avLst/>
          </a:prstGeom>
          <a:solidFill>
            <a:srgbClr val="9B979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352419" y="4737695"/>
            <a:ext cx="6216661" cy="416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49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Blind-probe exact-triple NLP accuracy is 45% on unseen phrasing.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047714" y="5506742"/>
            <a:ext cx="114274" cy="114274"/>
          </a:xfrm>
          <a:prstGeom prst="rect">
            <a:avLst/>
          </a:prstGeom>
          <a:solidFill>
            <a:srgbClr val="9B9797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352419" y="5401978"/>
            <a:ext cx="6599328" cy="416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49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Multi-zone complaints currently carry a single zone.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047714" y="6171027"/>
            <a:ext cx="114274" cy="114274"/>
          </a:xfrm>
          <a:prstGeom prst="rect">
            <a:avLst/>
          </a:prstGeom>
          <a:solidFill>
            <a:srgbClr val="9B9797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352419" y="6066263"/>
            <a:ext cx="4752994" cy="416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49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PPO is not yet accepted for shipping.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136718" y="3054831"/>
            <a:ext cx="14492" cy="632545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913162" y="3054831"/>
            <a:ext cx="8059757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kern="0" spc="288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TO PRODUCTION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913162" y="3799575"/>
            <a:ext cx="114274" cy="114274"/>
          </a:xfrm>
          <a:prstGeom prst="rect">
            <a:avLst/>
          </a:prstGeom>
          <a:solidFill>
            <a:srgbClr val="EC3013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217868" y="3694811"/>
            <a:ext cx="5476234" cy="416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49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 the twin for BACnet / Modbus writes.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9913162" y="4463860"/>
            <a:ext cx="114274" cy="114274"/>
          </a:xfrm>
          <a:prstGeom prst="rect">
            <a:avLst/>
          </a:prstGeom>
          <a:solidFill>
            <a:srgbClr val="EC3013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0217868" y="4359096"/>
            <a:ext cx="5356344" cy="416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49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Calibrate R/C parameters from BMS logs.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9913162" y="5128143"/>
            <a:ext cx="114274" cy="114274"/>
          </a:xfrm>
          <a:prstGeom prst="rect">
            <a:avLst/>
          </a:prstGeom>
          <a:solidFill>
            <a:srgbClr val="EC3013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0217868" y="5023379"/>
            <a:ext cx="6756081" cy="416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49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privacy at zone level — no per-person tracking.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913162" y="5792428"/>
            <a:ext cx="114274" cy="114274"/>
          </a:xfrm>
          <a:prstGeom prst="rect">
            <a:avLst/>
          </a:prstGeom>
          <a:solidFill>
            <a:srgbClr val="EC3013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10217868" y="5687664"/>
            <a:ext cx="6760730" cy="416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49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Clamp setpoints to 21.5–29°C and offsets to ±1.8°C.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1047714" y="9380286"/>
            <a:ext cx="16192501" cy="19021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047714" y="9589738"/>
            <a:ext cx="3755104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65"/>
              </a:lnSpc>
              <a:buNone/>
            </a:pPr>
            <a:r>
              <a:rPr lang="en-US" sz="1800" b="1" kern="0" spc="144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FeelsLike · Team Goldilocks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6541135" y="9589738"/>
            <a:ext cx="775280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14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C3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14" y="761953"/>
            <a:ext cx="1703861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kern="0" spc="288" dirty="0">
                <a:solidFill>
                  <a:srgbClr val="FFF2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FEELSLIKE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4633120" y="766784"/>
            <a:ext cx="2867804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65"/>
              </a:lnSpc>
              <a:buNone/>
            </a:pPr>
            <a:r>
              <a:rPr lang="en-US" sz="1800" b="1" kern="0" spc="216" dirty="0">
                <a:solidFill>
                  <a:srgbClr val="F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GOLDILOCKS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47714" y="1330606"/>
            <a:ext cx="16192501" cy="19021"/>
          </a:xfrm>
          <a:prstGeom prst="rect">
            <a:avLst/>
          </a:prstGeom>
          <a:solidFill>
            <a:srgbClr val="FFF2EF">
              <a:alpha val="45000"/>
            </a:srgbClr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47714" y="2752541"/>
            <a:ext cx="15304720" cy="1895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5113"/>
              </a:lnSpc>
              <a:buNone/>
            </a:pPr>
            <a:r>
              <a:rPr lang="en-US" sz="6900" b="1" kern="0" spc="-138" dirty="0">
                <a:solidFill>
                  <a:srgbClr val="FFF2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Buildings have been deaf for a hundred years.</a:t>
            </a:r>
            <a:endParaRPr lang="en-US" sz="6900" dirty="0"/>
          </a:p>
        </p:txBody>
      </p:sp>
      <p:sp>
        <p:nvSpPr>
          <p:cNvPr id="6" name="Text 4"/>
          <p:cNvSpPr/>
          <p:nvPr/>
        </p:nvSpPr>
        <p:spPr>
          <a:xfrm>
            <a:off x="1047714" y="4876876"/>
            <a:ext cx="17811751" cy="966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5113"/>
              </a:lnSpc>
              <a:buNone/>
            </a:pPr>
            <a:r>
              <a:rPr lang="en-US" sz="6900" b="1" kern="0" spc="-138" dirty="0">
                <a:solidFill>
                  <a:srgbClr val="FFF2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taught one to listen.</a:t>
            </a:r>
            <a:endParaRPr lang="en-US" sz="6900" dirty="0"/>
          </a:p>
        </p:txBody>
      </p:sp>
      <p:sp>
        <p:nvSpPr>
          <p:cNvPr id="7" name="Shape 5"/>
          <p:cNvSpPr/>
          <p:nvPr/>
        </p:nvSpPr>
        <p:spPr>
          <a:xfrm>
            <a:off x="1047714" y="7208626"/>
            <a:ext cx="3548082" cy="14492"/>
          </a:xfrm>
          <a:prstGeom prst="rect">
            <a:avLst/>
          </a:prstGeom>
          <a:solidFill>
            <a:srgbClr val="FFF2EF">
              <a:alpha val="45000"/>
            </a:srgbClr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47714" y="7394529"/>
            <a:ext cx="3902890" cy="481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468"/>
              </a:lnSpc>
              <a:buNone/>
            </a:pPr>
            <a:r>
              <a:rPr lang="en-US" sz="2250" b="1" dirty="0">
                <a:solidFill>
                  <a:srgbClr val="FFF2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Rakshit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047714" y="7894572"/>
            <a:ext cx="3902890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65"/>
              </a:lnSpc>
              <a:buNone/>
            </a:pPr>
            <a:r>
              <a:rPr lang="en-US" sz="1800" dirty="0">
                <a:solidFill>
                  <a:srgbClr val="F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24BYB1117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262495" y="7208626"/>
            <a:ext cx="3548157" cy="14492"/>
          </a:xfrm>
          <a:prstGeom prst="rect">
            <a:avLst/>
          </a:prstGeom>
          <a:solidFill>
            <a:srgbClr val="FFF2EF">
              <a:alpha val="45000"/>
            </a:srgbClr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262495" y="7394529"/>
            <a:ext cx="3902973" cy="481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468"/>
              </a:lnSpc>
              <a:buNone/>
            </a:pPr>
            <a:r>
              <a:rPr lang="en-US" sz="2250" b="1" dirty="0">
                <a:solidFill>
                  <a:srgbClr val="FFF2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Gokul R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5262495" y="7894572"/>
            <a:ext cx="3902973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65"/>
              </a:lnSpc>
              <a:buNone/>
            </a:pPr>
            <a:r>
              <a:rPr lang="en-US" sz="1800" dirty="0">
                <a:solidFill>
                  <a:srgbClr val="F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24BCE1188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477351" y="7208626"/>
            <a:ext cx="3548082" cy="14492"/>
          </a:xfrm>
          <a:prstGeom prst="rect">
            <a:avLst/>
          </a:prstGeom>
          <a:solidFill>
            <a:srgbClr val="FFF2EF">
              <a:alpha val="45000"/>
            </a:srgbClr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477351" y="7394529"/>
            <a:ext cx="3902890" cy="481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468"/>
              </a:lnSpc>
              <a:buNone/>
            </a:pPr>
            <a:r>
              <a:rPr lang="en-US" sz="2250" b="1" dirty="0">
                <a:solidFill>
                  <a:srgbClr val="FFF2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Dishal LS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477351" y="7894572"/>
            <a:ext cx="3902890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65"/>
              </a:lnSpc>
              <a:buNone/>
            </a:pPr>
            <a:r>
              <a:rPr lang="en-US" sz="1800" dirty="0">
                <a:solidFill>
                  <a:srgbClr val="F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24BCE1670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3692133" y="7208626"/>
            <a:ext cx="3548082" cy="14492"/>
          </a:xfrm>
          <a:prstGeom prst="rect">
            <a:avLst/>
          </a:prstGeom>
          <a:solidFill>
            <a:srgbClr val="FFF2EF">
              <a:alpha val="45000"/>
            </a:srgbClr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3692133" y="7394529"/>
            <a:ext cx="3902890" cy="481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468"/>
              </a:lnSpc>
              <a:buNone/>
            </a:pPr>
            <a:r>
              <a:rPr lang="en-US" sz="2250" b="1" dirty="0">
                <a:solidFill>
                  <a:srgbClr val="FFF2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Dhanish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3692133" y="7894572"/>
            <a:ext cx="3902890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65"/>
              </a:lnSpc>
              <a:buNone/>
            </a:pPr>
            <a:r>
              <a:rPr lang="en-US" sz="1800" dirty="0">
                <a:solidFill>
                  <a:srgbClr val="F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24BCE1348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47714" y="8667923"/>
            <a:ext cx="16192501" cy="19021"/>
          </a:xfrm>
          <a:prstGeom prst="rect">
            <a:avLst/>
          </a:prstGeom>
          <a:solidFill>
            <a:srgbClr val="FFF2EF">
              <a:alpha val="45000"/>
            </a:srgbClr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047714" y="8915491"/>
            <a:ext cx="9856856" cy="42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684"/>
              </a:lnSpc>
              <a:buNone/>
            </a:pPr>
            <a:r>
              <a:rPr lang="en-US" sz="1950" dirty="0">
                <a:solidFill>
                  <a:srgbClr val="FFF2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Natural-language feedback</a:t>
            </a:r>
            <a:r>
              <a:rPr lang="en-US" sz="1950" b="1" dirty="0">
                <a:solidFill>
                  <a:srgbClr val="FFF2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r>
              <a:rPr lang="en-US" sz="1950" dirty="0">
                <a:solidFill>
                  <a:srgbClr val="FFF2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physics-based simulation</a:t>
            </a:r>
            <a:r>
              <a:rPr lang="en-US" sz="1950" b="1" dirty="0">
                <a:solidFill>
                  <a:srgbClr val="FFF2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r>
              <a:rPr lang="en-US" sz="1950" dirty="0">
                <a:solidFill>
                  <a:srgbClr val="FFF2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constraint-aware control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2849795" y="8915491"/>
            <a:ext cx="4829461" cy="4219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366"/>
              </a:lnSpc>
              <a:buNone/>
            </a:pPr>
            <a:r>
              <a:rPr lang="en-US" sz="1950" b="1" dirty="0">
                <a:solidFill>
                  <a:srgbClr val="FFF2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26.6% less energy · 0 comfort violations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47714" y="9589738"/>
            <a:ext cx="5682969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65"/>
              </a:lnSpc>
              <a:buNone/>
            </a:pPr>
            <a:r>
              <a:rPr lang="en-US" sz="1800" b="1" kern="0" spc="144" dirty="0">
                <a:solidFill>
                  <a:srgbClr val="F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FeelsLike · Team Goldilocks · August 2026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541135" y="9589738"/>
            <a:ext cx="775280" cy="39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79"/>
              </a:lnSpc>
              <a:buNone/>
            </a:pPr>
            <a:r>
              <a:rPr lang="en-US" sz="1800" b="1" dirty="0">
                <a:solidFill>
                  <a:srgbClr val="FFF2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14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1670</Words>
  <Application>Microsoft Office PowerPoint</Application>
  <PresentationFormat>Custom</PresentationFormat>
  <Paragraphs>353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Rakshit R</cp:lastModifiedBy>
  <cp:revision>4</cp:revision>
  <dcterms:created xsi:type="dcterms:W3CDTF">2026-08-16T16:15:41Z</dcterms:created>
  <dcterms:modified xsi:type="dcterms:W3CDTF">2026-08-16T16:53:57Z</dcterms:modified>
</cp:coreProperties>
</file>